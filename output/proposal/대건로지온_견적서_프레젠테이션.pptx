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D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A5FA"/>
                </a:solidFill>
                <a:latin typeface="맑은 고딕"/>
              </a:defRPr>
            </a:pPr>
            <a:r>
              <a:t>[제안사명]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대건로지온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60A5FA"/>
                </a:solidFill>
                <a:latin typeface="맑은 고딕"/>
              </a:defRPr>
            </a:pPr>
            <a:r>
              <a:t>스마트 배차 관리 시스템 구축 제안서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2336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맑은 고딕"/>
              </a:defRPr>
            </a:pPr>
            <a:r>
              <a:t>프로젝트 기간  |  3개월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맑은 고딕"/>
              </a:defRPr>
            </a:pPr>
            <a:r>
              <a:t>총 투자 금액  |  35,000,000원 (VAT 별도)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맑은 고딕"/>
              </a:defRPr>
            </a:pPr>
            <a:r>
              <a:t>제안일  |  2026년 3월 3일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37160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Oval 7"/>
          <p:cNvSpPr/>
          <p:nvPr/>
        </p:nvSpPr>
        <p:spPr>
          <a:xfrm>
            <a:off x="5577840" y="120700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프로젝트 배경 및 목적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554480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6459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2" name="Oval 11"/>
          <p:cNvSpPr/>
          <p:nvPr/>
        </p:nvSpPr>
        <p:spPr>
          <a:xfrm>
            <a:off x="5577840" y="1755647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64591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개발 범위 및 핵심 기능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103119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194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6" name="Oval 15"/>
          <p:cNvSpPr/>
          <p:nvPr/>
        </p:nvSpPr>
        <p:spPr>
          <a:xfrm>
            <a:off x="5577840" y="230428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사용자/권한/고객사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651760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20" name="Oval 19"/>
          <p:cNvSpPr/>
          <p:nvPr/>
        </p:nvSpPr>
        <p:spPr>
          <a:xfrm>
            <a:off x="5577840" y="285292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AI 챗봇 &amp; 플랫폼 통합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200400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9183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4" name="Oval 23"/>
          <p:cNvSpPr/>
          <p:nvPr/>
        </p:nvSpPr>
        <p:spPr>
          <a:xfrm>
            <a:off x="5577840" y="3401567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견적서 자동화 &amp; 대시보드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3749039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840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8" name="Oval 27"/>
          <p:cNvSpPr/>
          <p:nvPr/>
        </p:nvSpPr>
        <p:spPr>
          <a:xfrm>
            <a:off x="5577840" y="395020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4297680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2" name="Oval 31"/>
          <p:cNvSpPr/>
          <p:nvPr/>
        </p:nvSpPr>
        <p:spPr>
          <a:xfrm>
            <a:off x="5577840" y="449884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개발 일정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846320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4937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36" name="Oval 35"/>
          <p:cNvSpPr/>
          <p:nvPr/>
        </p:nvSpPr>
        <p:spPr>
          <a:xfrm>
            <a:off x="5577840" y="504748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투자 비용 및 기대 효과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5394960"/>
            <a:ext cx="6217920" cy="914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5486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40A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40" name="Oval 39"/>
          <p:cNvSpPr/>
          <p:nvPr/>
        </p:nvSpPr>
        <p:spPr>
          <a:xfrm>
            <a:off x="5577840" y="559612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협력 사항 및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프로젝트 배경 및 현재 상황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931920" cy="2560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463040"/>
            <a:ext cx="1600200" cy="228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169164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다채널 접수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카카오톡으로 견적 요청을</a:t>
            </a:r>
            <a:br/>
            <a:r>
              <a:t>개별 접수·관리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463040"/>
            <a:ext cx="1600200" cy="228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88920" y="169164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수동 조회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8346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4개 화물 플랫폼을</a:t>
            </a:r>
            <a:br/>
            <a:r>
              <a:t>각각 개별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59" y="1463040"/>
            <a:ext cx="1600200" cy="228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6279" y="169164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19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수작업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9" y="28346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각 플랫폼 견적을</a:t>
            </a:r>
            <a:br/>
            <a:r>
              <a:t>수동으로 비교·선정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19" y="1463040"/>
            <a:ext cx="1600200" cy="2286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63639" y="169164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79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분산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59" y="28346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맑은 고딕"/>
              </a:defRPr>
            </a:pPr>
            <a:r>
              <a:t>고객사 정보가</a:t>
            </a:r>
            <a:br/>
            <a:r>
              <a:t>엑셀·수첩에 산재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핵심 해결 과제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892040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846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1F1F"/>
                </a:solidFill>
                <a:latin typeface="맑은 고딕"/>
              </a:defRPr>
            </a:pPr>
            <a:r>
              <a:t>사용자 및 권한 관리 부재 — 직원별 역할과 권한이 체계적으로 관리되지 않음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5257800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1F1F"/>
                </a:solidFill>
                <a:latin typeface="맑은 고딕"/>
              </a:defRPr>
            </a:pPr>
            <a:r>
              <a:t>고객사 정보 분산 — 여러 곳에 흩어진 고객사 정보 관리 어려움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5623560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77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1F1F"/>
                </a:solidFill>
                <a:latin typeface="맑은 고딕"/>
              </a:defRPr>
            </a:pPr>
            <a:r>
              <a:t>분산된 업무 환경 — 카카오톡 + 4개 화물 플랫폼 각각 확인하는 비효율성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5989320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943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1F1F"/>
                </a:solidFill>
                <a:latin typeface="맑은 고딕"/>
              </a:defRPr>
            </a:pPr>
            <a:r>
              <a:t>수동 데이터 입력 — 동일 배차 정보를 4개 사이트에 반복 입력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6355080"/>
            <a:ext cx="164592" cy="16459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6309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1F1F"/>
                </a:solidFill>
                <a:latin typeface="맑은 고딕"/>
              </a:defRPr>
            </a:pPr>
            <a:r>
              <a:t>견적서 작성 시간 — 고객사별 수동 작성 반복 작업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프로젝트 목표 — 통합 배차 관리 플랫폼 구축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12191695" cy="228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097280"/>
            <a:ext cx="12191695" cy="2286000"/>
          </a:xfrm>
          <a:prstGeom prst="rect">
            <a:avLst/>
          </a:prstGeom>
          <a:solidFill>
            <a:srgbClr val="0D274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737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맑은 고딕"/>
              </a:defRPr>
            </a:pPr>
            <a: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계정/권한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체계적인 RBAC 기반</a:t>
            </a:r>
            <a:br/>
            <a:r>
              <a:t>사용자 권한 제어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371600"/>
            <a:ext cx="1737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맑은 고딕"/>
              </a:defRPr>
            </a:pPr>
            <a: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고객사 CRM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37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통합 고객사 관리로</a:t>
            </a:r>
            <a:br/>
            <a:r>
              <a:t>정보 일원화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1737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맑은 고딕"/>
              </a:defRPr>
            </a:pPr>
            <a:r>
              <a:t>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파일 자동화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37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카카오톡 견적 파일</a:t>
            </a:r>
            <a:br/>
            <a:r>
              <a:t>자동 업로드·분류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1737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맑은 고딕"/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AI 챗봇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37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실시간 메뉴얼</a:t>
            </a:r>
            <a:br/>
            <a:r>
              <a:t>질의응답 시스템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371600"/>
            <a:ext cx="1737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맑은 고딕"/>
              </a:defRPr>
            </a:pPr>
            <a: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플랫폼 통합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37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4개 화물 플랫폼</a:t>
            </a:r>
            <a:br/>
            <a:r>
              <a:t>한 번에 조회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1371600"/>
            <a:ext cx="1737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1508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F1F1F"/>
                </a:solidFill>
                <a:latin typeface="맑은 고딕"/>
              </a:defRPr>
            </a:pPr>
            <a:r>
              <a:t>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견적서 자동화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23774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표준 견적서 자동 생성</a:t>
            </a:r>
            <a:br/>
            <a:r>
              <a:t>작성 시간 90% 단축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핵심 기대 효과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3891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업무 시간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937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40AF"/>
                </a:solidFill>
                <a:latin typeface="맑은 고딕"/>
              </a:defRPr>
            </a:pPr>
            <a:r>
              <a:t>70%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맑은 고딕"/>
              </a:defRPr>
            </a:pPr>
            <a:r>
              <a:t>절감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43891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처리량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937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40AF"/>
                </a:solidFill>
                <a:latin typeface="맑은 고딕"/>
              </a:defRPr>
            </a:pPr>
            <a:r>
              <a:t>200%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맑은 고딕"/>
              </a:defRPr>
            </a:pPr>
            <a:r>
              <a:t>증가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3891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견적서 작성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937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40AF"/>
                </a:solidFill>
                <a:latin typeface="맑은 고딕"/>
              </a:defRPr>
            </a:pPr>
            <a:r>
              <a:t>87%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맑은 고딕"/>
              </a:defRPr>
            </a:pPr>
            <a:r>
              <a:t>단축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43891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맑은 고딕"/>
              </a:defRPr>
            </a:pPr>
            <a:r>
              <a:t>정보 검색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4937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40AF"/>
                </a:solidFill>
                <a:latin typeface="맑은 고딕"/>
              </a:defRPr>
            </a:pPr>
            <a:r>
              <a:t>95%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5760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맑은 고딕"/>
              </a:defRPr>
            </a:pPr>
            <a:r>
              <a:t>단축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개발 범위 — 6대 핵심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1F1F"/>
                </a:solidFill>
                <a:latin typeface="맑은 고딕"/>
              </a:defRPr>
            </a:pPr>
            <a:r>
              <a:t>사용자/권한/고객사</a:t>
            </a:r>
            <a:br/>
            <a:r>
              <a:t>관리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계정 관리, RBAC 권한,</a:t>
            </a:r>
            <a:br/>
            <a:r>
              <a:t>고객사 CRM 통합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508760"/>
            <a:ext cx="1005840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5087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⭐ 최우선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37160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371600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0559" y="16459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1645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1F1F"/>
                </a:solidFill>
                <a:latin typeface="맑은 고딕"/>
              </a:defRPr>
            </a:pPr>
            <a:r>
              <a:t>파일 업로드</a:t>
            </a:r>
            <a:br/>
            <a:r>
              <a:t>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카톡 파일 업로드,</a:t>
            </a:r>
            <a:br/>
            <a:r>
              <a:t>자동 분류, OCR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37160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1371600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9" y="16459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79" y="1645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1F1F"/>
                </a:solidFill>
                <a:latin typeface="맑은 고딕"/>
              </a:defRPr>
            </a:pPr>
            <a:r>
              <a:t>AI 챗봇</a:t>
            </a:r>
            <a:br/>
            <a:r>
              <a:t>메뉴얼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25603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GPT/Gemini 연동,</a:t>
            </a:r>
            <a:br/>
            <a:r>
              <a:t>RAG 기반 질의응답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1F1F"/>
                </a:solidFill>
                <a:latin typeface="맑은 고딕"/>
              </a:defRPr>
            </a:pPr>
            <a:r>
              <a:t>4개 화물 플랫폼</a:t>
            </a:r>
            <a:br/>
            <a:r>
              <a:t>API 통합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035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통합 입력/조회,</a:t>
            </a:r>
            <a:br/>
            <a:r>
              <a:t>실시간 견적 비교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411480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411480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43891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1F1F"/>
                </a:solidFill>
                <a:latin typeface="맑은 고딕"/>
              </a:defRPr>
            </a:pPr>
            <a:r>
              <a:t>통합 관리</a:t>
            </a:r>
            <a:br/>
            <a:r>
              <a:t>대시보드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53035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배차 현황, 통계,</a:t>
            </a:r>
            <a:br/>
            <a:r>
              <a:t>권한별 모니터링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19" y="4114800"/>
            <a:ext cx="3474720" cy="2468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19" y="411480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599" y="43891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79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1F1F"/>
                </a:solidFill>
                <a:latin typeface="맑은 고딕"/>
              </a:defRPr>
            </a:pPr>
            <a:r>
              <a:t>견적서 자동</a:t>
            </a:r>
            <a:br/>
            <a:r>
              <a:t>작성 시스템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53035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맑은 고딕"/>
              </a:defRPr>
            </a:pPr>
            <a:r>
              <a:t>템플릿 기반 생성,</a:t>
            </a:r>
            <a:br/>
            <a:r>
              <a:t>PDF 출력, 이메일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사용자 · 권한 · 고객사 관리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1463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계정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이메일/아이디 기반 회원가입·로그인 (JWT)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비밀번호 암호화 저장 (bcrypt)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직원 계정 생성/수정/삭제, CSV 일괄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19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로그인 실패 제한 (5회), 세션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73152" cy="1463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권한 관리 (RBAC)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슈퍼관리자 / 관리자 / 일반사용자 / 조회전용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메뉴별·기능별(CRUD) 접근 권한 설정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데이터 범위 권한 (전체/부서/본인)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79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부서별 권한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73152" cy="1463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고객사 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기본정보·연락처·주소·담당자 통합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등급(VIP/A/B/C), 태그, 상태 분류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계약/가격 정책, 거래 이력 추적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035039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통합 검색·필터링, 고객사 대시보드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40AF"/>
                </a:solidFill>
                <a:latin typeface="맑은 고딕"/>
              </a:defRPr>
            </a:pPr>
            <a:r>
              <a:t>감사 로그: 모든 로그인 이력, 데이터 변경 기록, 중요 작업 로그를 자동 기록 → 보안 감사 및 문제 추적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AI 챗봇 메뉴얼 &amp; 4개 화물 플랫폼 통합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🤖  AI 챗봇 메뉴얼 시스템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103120"/>
            <a:ext cx="210312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부서별 업무 메뉴얼 DB 구축 (벡터 DB)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ChatGPT / Gemini API 멀티 LLM 지원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RAG 기반 컨텍스트 답변 + 출처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546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자주 묻는 질문 Quick Button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부서별 필터링, 질문 히스토리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답변 유용성 피드백 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LangChain · Pinecone · OpenAI · Gemini · FastAPI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🔗  4개 화물 플랫폼 API 통합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103120"/>
            <a:ext cx="2103120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7512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전국24시콜화물 · 화물맨 · 원콜 · 인성데이타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346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한 번의 입력으로 4개 플랫폼 동시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5467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실시간 견적 비교 대시보드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74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가격 오름차순 정렬, 조건별 필터링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794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기본 운임 + 추가 요금 상세 표시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114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API / 웹 스크래핑 하이브리드 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434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에러 핸들링 + 5분 캐싱 (Redis)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Playwright · REST API · Redis · Node.js · Python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견적서 자동 작성 시스템 &amp; 통합 대시보드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45920"/>
            <a:ext cx="210312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📄  견적서 자동 작성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템플릿 기반 자동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고객사 정보 CRM 자동 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할인율/마진율 자동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PDF 고품질 출력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이메일 자동 발송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견적서 이력/승인/재발행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고객사별 커스터마이징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맑은 고딕"/>
              </a:defRPr>
            </a:pPr>
            <a:r>
              <a:t>견적서 작성 시간: 15분 → 2분 (87% 단축)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371600"/>
            <a:ext cx="53035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645920"/>
            <a:ext cx="2103120" cy="1371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751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맑은 고딕"/>
              </a:defRPr>
            </a:pPr>
            <a:r>
              <a:t>📊  통합 대시보드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오늘의 배차 현황 (접수/처리중/완료)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4개 플랫폼 이용 현황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고객사 현황 (총 수, 신규)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견적서 발행 현황 (일/주/월)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AI 챗봇 인기 질문 TOP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담당자별 업무 현황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권한별 맞춤 위젯 표시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통계/리포트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120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일별/주별/월별 처리 건수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39495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고객사별 거래·매출 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6692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Excel/CSV/PDF 데이터 내보내기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시스템 아키텍처 &amp; 기술 스택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18320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사용자 인증 및 권한 관리  (JWT · RBAC · bcrypt)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28346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고객사 CRM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286000"/>
            <a:ext cx="28346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파일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86000"/>
            <a:ext cx="28346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377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AI 챗봇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383280"/>
            <a:ext cx="283464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플랫폼 통합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383280"/>
            <a:ext cx="283464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견적서 자동화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383280"/>
            <a:ext cx="283464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34747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통합 대시보드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617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  <a:latin typeface="맑은 고딕"/>
              </a:defRPr>
            </a:pPr>
            <a:r>
              <a:t>감사 로그 시스템  (모든 활동 기록·추적)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기술 스택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2103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035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React 18 · TypeScript</a:t>
            </a:r>
            <a:br/>
            <a:r>
              <a:t>Tailwind CSS · shadcn/ui</a:t>
            </a:r>
            <a:br/>
            <a:r>
              <a:t>Chart.js · Zustand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5760720"/>
            <a:ext cx="2103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6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6035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Node.js · Express</a:t>
            </a:r>
            <a:br/>
            <a:r>
              <a:t>Python · FastAPI</a:t>
            </a:r>
            <a:br/>
            <a:r>
              <a:t>JWT · Passport.js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9" y="5760720"/>
            <a:ext cx="2103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79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19" y="6035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PostgreSQL 14+</a:t>
            </a:r>
            <a:br/>
            <a:r>
              <a:t>Pinecone (Vector DB)</a:t>
            </a:r>
            <a:br/>
            <a:r>
              <a:t>Redis 7+ (Cache)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5760720"/>
            <a:ext cx="2103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AI / 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6035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OpenAI GPT-4</a:t>
            </a:r>
            <a:br/>
            <a:r>
              <a:t>Google Gemini</a:t>
            </a:r>
            <a:br/>
            <a:r>
              <a:t>LangChain · RAG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19" y="5760720"/>
            <a:ext cx="2103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19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Infra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59" y="6035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AWS / NCP</a:t>
            </a:r>
            <a:br/>
            <a:r>
              <a:t>Docker · S3</a:t>
            </a:r>
            <a:br/>
            <a:r>
              <a:t>Playwright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개발 일정 — 3개월 타임라인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280160"/>
            <a:ext cx="3200400" cy="2011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2011680"/>
            <a:ext cx="7315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38528"/>
            <a:ext cx="182880" cy="1828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1-2주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118872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95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착수 ·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킥오프, 요구사항 분석</a:t>
            </a:r>
            <a:br/>
            <a:r>
              <a:t>권한/역할 정의</a:t>
            </a:r>
            <a:br/>
            <a:r>
              <a:t>고객사 데이터 수집</a:t>
            </a:r>
            <a:br/>
            <a:r>
              <a:t>메뉴얼 데이터 수집</a:t>
            </a:r>
          </a:p>
        </p:txBody>
      </p:sp>
      <p:sp>
        <p:nvSpPr>
          <p:cNvPr id="13" name="Oval 12"/>
          <p:cNvSpPr/>
          <p:nvPr/>
        </p:nvSpPr>
        <p:spPr>
          <a:xfrm>
            <a:off x="2148840" y="1938528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3-4주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2377440"/>
            <a:ext cx="118872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2395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환경 구축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834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개발 서버 세팅</a:t>
            </a:r>
            <a:br/>
            <a:r>
              <a:t>DB 스키마 설계</a:t>
            </a:r>
            <a:br/>
            <a:r>
              <a:t>API 구조 설계</a:t>
            </a:r>
            <a:br/>
            <a:r>
              <a:t>UI/UX 디자인</a:t>
            </a:r>
          </a:p>
        </p:txBody>
      </p:sp>
      <p:sp>
        <p:nvSpPr>
          <p:cNvPr id="18" name="Oval 17"/>
          <p:cNvSpPr/>
          <p:nvPr/>
        </p:nvSpPr>
        <p:spPr>
          <a:xfrm>
            <a:off x="3429000" y="1938528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맑은 고딕"/>
              </a:defRPr>
            </a:pPr>
            <a:r>
              <a:t>5-7주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377440"/>
            <a:ext cx="118872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2395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1단계 개발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834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사용자/권한/고객사</a:t>
            </a:r>
            <a:br/>
            <a:r>
              <a:t>파일 업로드 시스템</a:t>
            </a:r>
            <a:br/>
            <a:r>
              <a:t>AI 챗봇 시스템</a:t>
            </a:r>
            <a:br/>
            <a:r>
              <a:t>벡터 DB 구축</a:t>
            </a:r>
          </a:p>
        </p:txBody>
      </p:sp>
      <p:sp>
        <p:nvSpPr>
          <p:cNvPr id="23" name="Oval 22"/>
          <p:cNvSpPr/>
          <p:nvPr/>
        </p:nvSpPr>
        <p:spPr>
          <a:xfrm>
            <a:off x="4709159" y="1938528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79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맑은 고딕"/>
              </a:defRPr>
            </a:pPr>
            <a:r>
              <a:t>8-10주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9" y="2377440"/>
            <a:ext cx="118872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79" y="2395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2단계 개발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79" y="2834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4개 플랫폼 API 연동</a:t>
            </a:r>
            <a:br/>
            <a:r>
              <a:t>통합 대시보드</a:t>
            </a:r>
            <a:br/>
            <a:r>
              <a:t>견적서 자동 작성</a:t>
            </a:r>
            <a:br/>
            <a:r>
              <a:t>견적 비교 기능</a:t>
            </a:r>
          </a:p>
        </p:txBody>
      </p:sp>
      <p:sp>
        <p:nvSpPr>
          <p:cNvPr id="28" name="Oval 27"/>
          <p:cNvSpPr/>
          <p:nvPr/>
        </p:nvSpPr>
        <p:spPr>
          <a:xfrm>
            <a:off x="5989320" y="1938528"/>
            <a:ext cx="182880" cy="1828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맑은 고딕"/>
              </a:defRPr>
            </a:pPr>
            <a:r>
              <a:t>11주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2377440"/>
            <a:ext cx="118872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2395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통합 테스트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2834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통합 테스트</a:t>
            </a:r>
            <a:br/>
            <a:r>
              <a:t>권한별 테스트</a:t>
            </a:r>
            <a:br/>
            <a:r>
              <a:t>성능 최적화</a:t>
            </a:r>
            <a:br/>
            <a:r>
              <a:t>보안 점검</a:t>
            </a:r>
          </a:p>
        </p:txBody>
      </p:sp>
      <p:sp>
        <p:nvSpPr>
          <p:cNvPr id="33" name="Oval 32"/>
          <p:cNvSpPr/>
          <p:nvPr/>
        </p:nvSpPr>
        <p:spPr>
          <a:xfrm>
            <a:off x="7269480" y="1938528"/>
            <a:ext cx="182880" cy="1828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맑은 고딕"/>
              </a:defRPr>
            </a:pPr>
            <a:r>
              <a:t>12주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2377440"/>
            <a:ext cx="118872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3957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배포 · 교육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834640"/>
            <a:ext cx="118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맑은 고딕"/>
              </a:defRPr>
            </a:pPr>
            <a:r>
              <a:t>사용자 교육</a:t>
            </a:r>
            <a:br/>
            <a:r>
              <a:t>운영 서버 배포</a:t>
            </a:r>
            <a:br/>
            <a:r>
              <a:t>매뉴얼 전달</a:t>
            </a:r>
            <a:br/>
            <a:r>
              <a:t>프로젝트 완료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389120"/>
            <a:ext cx="12191695" cy="24688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주요 마일스톤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5029200"/>
            <a:ext cx="1097280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029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M1  2주차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5029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요구사항 확정, 권한/역할 정의, 견적서 템플릿 승인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5376672"/>
            <a:ext cx="1097280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376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M2  4주차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5376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개발 환경 구축 완료, DB 스키마 확정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5724144"/>
            <a:ext cx="1097280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7241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M3  7주차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3120" y="572414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사용자/권한/고객사 관리 + 파일 업로드 + AI 챗봇 완료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6071616"/>
            <a:ext cx="1097280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60716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M4  10주차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60716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4개 플랫폼 통합 + 견적서 자동 작성 완료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" y="6419088"/>
            <a:ext cx="1097280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M5  12주차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0312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통합 테스트 완료 → 운영 배포 → 인수인계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투자 비용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A5FA"/>
                </a:solidFill>
                <a:latin typeface="맑은 고딕"/>
              </a:defRPr>
            </a:pPr>
            <a:r>
              <a:t>총 프로젝트 비용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35,000,000원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맑은 고딕"/>
              </a:defRPr>
            </a:pPr>
            <a:r>
              <a:t>VAT 별도  |  3개월 개발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비용 내역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50292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074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인건비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407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PM 1명 + FE 1명 + BE 2명 + AI 1명 + QA 1명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4074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28,000,000원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46320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인프라/라이선스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64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클라우드, AI API, 개발 도구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8646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2,500,000원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50292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21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프로젝트 관리비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321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형상관리, 문서화, 리스크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321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2,500,000원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60720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790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QA/테스트 비용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779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통합 테스트, 보안 점검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7790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1,000,000원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217920"/>
            <a:ext cx="502920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236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예비비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6236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요구사항 변경 대응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6236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F1F1F"/>
                </a:solidFill>
                <a:latin typeface="맑은 고딕"/>
              </a:defRPr>
            </a:pPr>
            <a:r>
              <a:t>1,000,000원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931920"/>
            <a:ext cx="5303520" cy="2743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투자 대비 기대 효과 (연간)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4572000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5902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인건비 절감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8280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업무 시간 60% 절감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59669"/>
                </a:solidFill>
                <a:latin typeface="맑은 고딕"/>
              </a:defRPr>
            </a:pPr>
            <a:r>
              <a:t>약 3,500만원/년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5166360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51846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매출 증대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4223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처리량 200% 증가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5257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59669"/>
                </a:solidFill>
                <a:latin typeface="맑은 고딕"/>
              </a:defRPr>
            </a:pPr>
            <a:r>
              <a:t>약 8,000만원/년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5760720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57790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비용 절감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1675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견적서 외주 + 고객 이탈 방지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59669"/>
                </a:solidFill>
                <a:latin typeface="맑은 고딕"/>
              </a:defRPr>
            </a:pPr>
            <a:r>
              <a:t>약 1,500만원/년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6400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투자 회수 기간: 약 3~4개월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협력 사항 및 프로젝트 결론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대건로지온 준비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조직/권한 정보 (부서 구조, 직원 목록, 권한 요구)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고객사 데이터 (Excel/CSV), 분류 기준, 가격 정책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부서별 업무 메뉴얼, 요일별 업무 흐름, FAQ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4개 화물 플랫폼 계정 정보, API 키 발급 협조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기존 견적서 샘플 (10건+), 브랜딩 자료 (로고, 컬러)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프로젝트 담당자 지정, 주 1회 정기 미팅 참석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AF"/>
                </a:solidFill>
                <a:latin typeface="맑은 고딕"/>
              </a:defRPr>
            </a:pPr>
            <a:r>
              <a:t>제안사 제공 사항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PM 1명 (풀타임) + 개발팀 5명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5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주간 진행 상황 보고, 이슈/리스크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소스 코드 (GitHub), API 문서, DB 스키마 문서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운영 매뉴얼, 사용자 가이드 (권한별)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7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1F1F"/>
                </a:solidFill>
                <a:latin typeface="맑은 고딕"/>
              </a:defRPr>
            </a:pPr>
            <a:r>
              <a:t>•  3개월 무상 유지보수 (배포 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931920"/>
            <a:ext cx="4389120" cy="2743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운영 및 유지보수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4572000"/>
            <a:ext cx="3840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617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무상 (3개월)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6177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버그 수정, 장애 대응</a:t>
            </a:r>
            <a:br/>
            <a:r>
              <a:t>시스템 모니터링, 기술 지원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5669280"/>
            <a:ext cx="3840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5715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유상 (4개월~)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715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맑은 고딕"/>
              </a:defRPr>
            </a:pPr>
            <a:r>
              <a:t>월 50~100만원 (협의)</a:t>
            </a:r>
            <a:br/>
            <a:r>
              <a:t>보안 패치, 기능 개선</a:t>
            </a:r>
            <a:br/>
            <a:r>
              <a:t>기술 지원 월 20시간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74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60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0A5FA"/>
                </a:solidFill>
                <a:latin typeface="맑은 고딕"/>
              </a:defRPr>
            </a:pPr>
            <a:r>
              <a:t>대건로지온 스마트 배차 관리 시스템 구축 제안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291840"/>
            <a:ext cx="210312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[제안사명]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3891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맑은 고딕"/>
              </a:defRPr>
            </a:pPr>
            <a:r>
              <a:t>담당자: [이름]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75488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맑은 고딕"/>
              </a:defRPr>
            </a:pPr>
            <a:r>
              <a:t>이메일: [email@example.com]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1206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맑은 고딕"/>
              </a:defRPr>
            </a:pPr>
            <a:r>
              <a:t>전화: [010-XXXX-XXXX]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6692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맑은 고딕"/>
              </a:defRPr>
            </a:pPr>
            <a:r>
              <a:t>2026년 3월 3일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
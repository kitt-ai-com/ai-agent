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9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4"/>
  </p:normalViewPr>
  <p:slideViewPr>
    <p:cSldViewPr snapToGrid="0" snapToObjects="1">
      <p:cViewPr varScale="1">
        <p:scale>
          <a:sx n="116" d="100"/>
          <a:sy n="116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DBE8C-7029-5447-87D7-F5F58963205B}" type="datetimeFigureOut">
              <a:rPr kumimoji="1" lang="ko-KR" altLang="en-US" smtClean="0"/>
              <a:t>2026. 3. 4.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E5354-81FB-3C4D-ABA7-A6A80F179AF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21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E5354-81FB-3C4D-ABA7-A6A80F179AF2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541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E5354-81FB-3C4D-ABA7-A6A80F179AF2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083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D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  <a:latin typeface="맑은 고딕"/>
              </a:defRPr>
            </a:pPr>
            <a:r>
              <a:t>[제안사명]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 err="1"/>
              <a:t>대건종합특송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0A5FA"/>
                </a:solidFill>
                <a:latin typeface="맑은 고딕"/>
              </a:defRPr>
            </a:pPr>
            <a:r>
              <a:t>스마트 배차 관리 시스템 구축 제안서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2336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맑은 고딕"/>
              </a:defRPr>
            </a:pPr>
            <a:r>
              <a:t>프로젝트 기간  |  3개월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맑은 고딕"/>
              </a:defRPr>
            </a:pPr>
            <a:r>
              <a:t>총 투자 금액  |  35,000,000원 (VAT 별도)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맑은 고딕"/>
              </a:defRPr>
            </a:pPr>
            <a:r>
              <a:t>제안일  |  2026년 3월 3일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3716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5577840" y="120700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프로젝트 배경 및 목적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5448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1755647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16459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개발 범위 및 핵심 기능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103119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0" y="230428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사용자/권한/고객사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65176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Oval 19"/>
          <p:cNvSpPr/>
          <p:nvPr/>
        </p:nvSpPr>
        <p:spPr>
          <a:xfrm>
            <a:off x="5577840" y="285292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AI 챗봇 &amp; 플랫폼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20040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32918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Oval 23"/>
          <p:cNvSpPr/>
          <p:nvPr/>
        </p:nvSpPr>
        <p:spPr>
          <a:xfrm>
            <a:off x="5577840" y="3401567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견적서 자동화 &amp; 대시보드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749039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8" name="Oval 27"/>
          <p:cNvSpPr/>
          <p:nvPr/>
        </p:nvSpPr>
        <p:spPr>
          <a:xfrm>
            <a:off x="5577840" y="395020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29768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2" name="Oval 31"/>
          <p:cNvSpPr/>
          <p:nvPr/>
        </p:nvSpPr>
        <p:spPr>
          <a:xfrm>
            <a:off x="5577840" y="44988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개발 일정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84632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4937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6" name="Oval 35"/>
          <p:cNvSpPr/>
          <p:nvPr/>
        </p:nvSpPr>
        <p:spPr>
          <a:xfrm>
            <a:off x="5577840" y="504748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투자 비용 및 기대 효과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539496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40" name="Oval 39"/>
          <p:cNvSpPr/>
          <p:nvPr/>
        </p:nvSpPr>
        <p:spPr>
          <a:xfrm>
            <a:off x="5577840" y="559612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협력 사항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프로젝트 배경 및 현재 상황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다채널 접수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카카오톡으로 견적 요청을</a:t>
            </a:r>
            <a:br/>
            <a:r>
              <a:t>개별 접수·관리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788920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수동 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4개 화물 플랫폼을</a:t>
            </a:r>
            <a:br/>
            <a:r>
              <a:t>각각 개별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59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26279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19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수작업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9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각 플랫폼 견적을</a:t>
            </a:r>
            <a:br/>
            <a:r>
              <a:t>수동으로 비교·선정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19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63639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79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분산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고객사 정보가</a:t>
            </a:r>
            <a:br/>
            <a:r>
              <a:t>엑셀·수첩에 산재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핵심 해결 과제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89204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사용자 및 권한 관리 부재 — 직원별 역할과 권한이 체계적으로 관리되지 않음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25780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고객사 정보 분산 — 여러 곳에 흩어진 고객사 정보 관리 어려움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62356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분산된 업무 환경 — 카카오톡 + 4개 화물 플랫폼 각각 확인하는 비효율성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98932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수동 데이터 입력 — 동일 배차 정보를 4개 사이트에 반복 입력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635508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8720" y="6309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견적서 작성 시간 — 고객사별 수동 작성 반복 작업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프로젝트 목표 — 통합 배차 관리 플랫폼 구축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12191695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097280"/>
            <a:ext cx="12191695" cy="2286000"/>
          </a:xfrm>
          <a:prstGeom prst="rect">
            <a:avLst/>
          </a:prstGeom>
          <a:solidFill>
            <a:srgbClr val="0D274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계정/권한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체계적인 RBAC 기반</a:t>
            </a:r>
            <a:br/>
            <a:r>
              <a:t>사용자 권한 제어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고객사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통합 고객사 관리로</a:t>
            </a:r>
            <a:br/>
            <a:r>
              <a:t>정보 일원화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파일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카카오톡 견적 파일</a:t>
            </a:r>
            <a:br/>
            <a:r>
              <a:t>자동 업로드·분류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AI 챗봇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실시간 메뉴얼</a:t>
            </a:r>
            <a:br/>
            <a:r>
              <a:t>질의응답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플랫폼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4개 화물 플랫폼</a:t>
            </a:r>
            <a:br/>
            <a:r>
              <a:t>한 번에 조회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견적서 자동화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표준 견적서 자동 생성</a:t>
            </a:r>
            <a:br/>
            <a:r>
              <a:t>작성 시간 90% 단축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핵심 기대 효과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업무 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70%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절감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처리량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200%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증가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견적서 작성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87%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단축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정보 검색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95%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단축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개발 범위 — 6대 핵심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사용자/권한/고객사</a:t>
            </a:r>
            <a:br/>
            <a:r>
              <a:t>관리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계정 관리, RBAC 권한,</a:t>
            </a:r>
            <a:br/>
            <a:r>
              <a:t>고객사 CRM 통합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500447"/>
            <a:ext cx="100584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8752" y="152027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⭐</a:t>
            </a:r>
            <a:r>
              <a:rPr lang="ko-KR" altLang="en-US" dirty="0"/>
              <a:t> 최우선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297679" y="13716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79" y="137160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80559" y="16459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파일 업로드</a:t>
            </a:r>
            <a:br/>
            <a:r>
              <a:t>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rPr dirty="0" err="1"/>
              <a:t>카톡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,</a:t>
            </a:r>
            <a:br>
              <a:rPr dirty="0"/>
            </a:b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, OCR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3716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19" y="137160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599" y="16459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9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AI 챗봇</a:t>
            </a:r>
            <a:br/>
            <a:r>
              <a:t>메뉴얼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GPT/Gemini 연동,</a:t>
            </a:r>
            <a:br/>
            <a:r>
              <a:t>RAG 기반 질의응답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4개 화물 플랫폼</a:t>
            </a:r>
            <a:br/>
            <a:r>
              <a:t>API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통합 입력/조회,</a:t>
            </a:r>
            <a:br/>
            <a:r>
              <a:t>실시간 견적 비교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41148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79" y="411480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80559" y="4389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통합 관리</a:t>
            </a:r>
            <a:br/>
            <a:r>
              <a:t>대시보드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배차 현황, 통계,</a:t>
            </a:r>
            <a:br/>
            <a:r>
              <a:t>권한별 모니터링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41148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19" y="411480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9599" y="4389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79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견적서 자동</a:t>
            </a:r>
            <a:br/>
            <a:r>
              <a:t>작성 시스템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템플릿 기반 생성,</a:t>
            </a:r>
            <a:br/>
            <a:r>
              <a:t>PDF 출력, 이메일</a:t>
            </a: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0298608B-1E43-0B49-8229-E4EEAB90B22D}"/>
              </a:ext>
            </a:extLst>
          </p:cNvPr>
          <p:cNvSpPr/>
          <p:nvPr/>
        </p:nvSpPr>
        <p:spPr>
          <a:xfrm>
            <a:off x="2861951" y="4259679"/>
            <a:ext cx="100584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EC0358-D15D-0243-9428-D38B1853530F}"/>
              </a:ext>
            </a:extLst>
          </p:cNvPr>
          <p:cNvSpPr txBox="1"/>
          <p:nvPr/>
        </p:nvSpPr>
        <p:spPr>
          <a:xfrm>
            <a:off x="2834640" y="4297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⭐ </a:t>
            </a:r>
            <a:r>
              <a:rPr dirty="0" err="1"/>
              <a:t>최우선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사용자 · 권한 · 고객사 관리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계정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이메일/아이디 기반 회원가입·로그인 (JWT)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비밀번호 암호화 저장 (bcrypt)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직원 계정 생성/수정/삭제, CSV 일괄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1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로그인 실패 제한 (5회), 세션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권한 관리 (RBAC)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슈퍼관리자 / 관리자 / 일반사용자 / 조회전용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메뉴별·기능별(CRUD) 접근 권한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데이터 범위 권한 (전체/부서/본인)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7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권한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73152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고객사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기본정보·연락처·주소·담당자 통합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등급(VIP/A/B/C), 태그, 상태 분류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계약/가격 정책, 거래 이력 추적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3503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통합 검색·필터링, 고객사 대시보드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40AF"/>
                </a:solidFill>
                <a:latin typeface="맑은 고딕"/>
              </a:defRPr>
            </a:pPr>
            <a:r>
              <a:rPr dirty="0" err="1"/>
              <a:t>감사</a:t>
            </a:r>
            <a:r>
              <a:rPr dirty="0"/>
              <a:t> </a:t>
            </a:r>
            <a:r>
              <a:rPr dirty="0" err="1"/>
              <a:t>로그</a:t>
            </a:r>
            <a:r>
              <a:rPr dirty="0"/>
              <a:t>: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, </a:t>
            </a:r>
            <a:r>
              <a:rPr dirty="0" err="1"/>
              <a:t>중요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로그를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 →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감사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추적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AI 챗봇 메뉴얼 &amp; 4개 화물 플랫폼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🤖  AI 챗봇 메뉴얼 시스템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103120"/>
            <a:ext cx="210312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업무 메뉴얼 DB 구축 (벡터 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ChatGPT / Gemini API 멀티 LLM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RAG 기반 컨텍스트 답변 + 출처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자주 묻는 질문 Quick Button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필터링, 질문 히스토리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답변 유용성 피드백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LangChain · Pinecone · OpenAI · Gemini · 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🔗  4개 화물 플랫폼 API 통합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103120"/>
            <a:ext cx="210312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512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전국24시콜화물 · 화물맨 · 원콜 · 인성데이타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한 번의 입력으로 4개 플랫폼 동시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5467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실시간 견적 비교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74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가격 오름차순 정렬, 조건별 필터링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94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기본 운임 + 추가 요금 상세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API / 웹 스크래핑 하이브리드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에러 핸들링 + 5분 캐싱 (Redis)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Playwright · REST API · Redis · Node.js ·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견적서 자동 작성 시스템 &amp; 통합 대시보드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210312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📄  견적서 자동 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템플릿 기반 자동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 정보 CRM 자동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할인율</a:t>
            </a:r>
            <a:r>
              <a:rPr dirty="0"/>
              <a:t>/</a:t>
            </a:r>
            <a:r>
              <a:rPr dirty="0" err="1"/>
              <a:t>마진율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 PDF </a:t>
            </a:r>
            <a:r>
              <a:rPr dirty="0" err="1"/>
              <a:t>고품질</a:t>
            </a:r>
            <a:r>
              <a:rPr dirty="0"/>
              <a:t> </a:t>
            </a:r>
            <a:r>
              <a:rPr dirty="0" err="1"/>
              <a:t>출력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이메일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발송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견적서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/</a:t>
            </a:r>
            <a:r>
              <a:rPr dirty="0" err="1"/>
              <a:t>승인</a:t>
            </a:r>
            <a:r>
              <a:rPr dirty="0"/>
              <a:t>/</a:t>
            </a:r>
            <a:r>
              <a:rPr dirty="0" err="1"/>
              <a:t>재발행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고객사별</a:t>
            </a:r>
            <a:r>
              <a:rPr dirty="0"/>
              <a:t> </a:t>
            </a:r>
            <a:r>
              <a:rPr dirty="0" err="1"/>
              <a:t>커스터마이징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맑은 고딕"/>
              </a:defRPr>
            </a:pPr>
            <a:r>
              <a:t>견적서 작성 시간: 15분 → 2분 (87% 단축)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03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645920"/>
            <a:ext cx="2103120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751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📊  통합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오늘의 배차 현황 (접수/처리중/완료)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4개 플랫폼 이용 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 현황 (총 수, 신규)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견적서 발행 현황 (일/주/월)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AI 챗봇 인기 질문 TOP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담당자별 업무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권한별 맞춤 위젯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통계/리포트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일별/주별/월별 처리 건수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3949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고객사별 거래·매출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6692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Excel/CSV/PDF 데이터 내보내기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시스템 아키텍처 &amp; 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사용자 인증 및 권한 관리  (JWT · RBAC · bcrypt)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28346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고객사 CRM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286000"/>
            <a:ext cx="28346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파일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86000"/>
            <a:ext cx="28346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 챗봇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383280"/>
            <a:ext cx="28346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플랫폼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383280"/>
            <a:ext cx="28346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견적서 자동화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383280"/>
            <a:ext cx="28346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통합 대시보드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617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맑은 고딕"/>
              </a:defRPr>
            </a:pPr>
            <a:r>
              <a:t>감사 로그 시스템  (모든 활동 기록·추적)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React 18 · TypeScript</a:t>
            </a:r>
            <a:br/>
            <a:r>
              <a:t>Tailwind CSS · shadcn/ui</a:t>
            </a:r>
            <a:br/>
            <a:r>
              <a:t>Chart.js · Zustand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8036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Node.js · Express</a:t>
            </a:r>
            <a:br/>
            <a:r>
              <a:t>Python · FastAPI</a:t>
            </a:r>
            <a:br/>
            <a:r>
              <a:t>JWT · Passport.js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79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19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PostgreSQL 14+</a:t>
            </a:r>
            <a:br/>
            <a:r>
              <a:t>Pinecone (Vector DB)</a:t>
            </a:r>
            <a:br/>
            <a:r>
              <a:t>Redis 7+ (Cache)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4380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AI /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OpenAI GPT-4</a:t>
            </a:r>
            <a:br/>
            <a:r>
              <a:t>Google Gemini</a:t>
            </a:r>
            <a:br/>
            <a:r>
              <a:t>LangChain · RAG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19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19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59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AWS / NCP</a:t>
            </a:r>
            <a:br/>
            <a:r>
              <a:t>Docker · S3</a:t>
            </a:r>
            <a:br/>
            <a:r>
              <a:t>Playwright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개발 일정 — 3개월 타임라인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80160"/>
            <a:ext cx="3200400" cy="201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2011680"/>
            <a:ext cx="7315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938528"/>
            <a:ext cx="182880" cy="1828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1-2주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11887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착수 ·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킥오프, 요구사항 분석</a:t>
            </a:r>
            <a:br/>
            <a:r>
              <a:t>권한/역할 정의</a:t>
            </a:r>
            <a:br/>
            <a:r>
              <a:t>고객사 데이터 수집</a:t>
            </a:r>
            <a:br/>
            <a:r>
              <a:t>메뉴얼 데이터 수집</a:t>
            </a:r>
          </a:p>
        </p:txBody>
      </p:sp>
      <p:sp>
        <p:nvSpPr>
          <p:cNvPr id="13" name="Oval 12"/>
          <p:cNvSpPr/>
          <p:nvPr/>
        </p:nvSpPr>
        <p:spPr>
          <a:xfrm>
            <a:off x="2148840" y="1938528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3-4주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377440"/>
            <a:ext cx="11887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환경 구축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개발 서버 세팅</a:t>
            </a:r>
            <a:br/>
            <a:r>
              <a:t>DB 스키마 설계</a:t>
            </a:r>
            <a:br/>
            <a:r>
              <a:t>API 구조 설계</a:t>
            </a:r>
            <a:br/>
            <a:r>
              <a:t>UI/UX 디자인</a:t>
            </a:r>
          </a:p>
        </p:txBody>
      </p:sp>
      <p:sp>
        <p:nvSpPr>
          <p:cNvPr id="18" name="Oval 17"/>
          <p:cNvSpPr/>
          <p:nvPr/>
        </p:nvSpPr>
        <p:spPr>
          <a:xfrm>
            <a:off x="3429000" y="1938528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1752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5-7주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377440"/>
            <a:ext cx="11887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1단계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사용자/권한/고객사</a:t>
            </a:r>
            <a:br/>
            <a:r>
              <a:t>파일 업로드 시스템</a:t>
            </a:r>
            <a:br/>
            <a:r>
              <a:t>AI 챗봇 시스템</a:t>
            </a:r>
            <a:br/>
            <a:r>
              <a:t>벡터 DB 구축</a:t>
            </a:r>
          </a:p>
        </p:txBody>
      </p:sp>
      <p:sp>
        <p:nvSpPr>
          <p:cNvPr id="23" name="Oval 22"/>
          <p:cNvSpPr/>
          <p:nvPr/>
        </p:nvSpPr>
        <p:spPr>
          <a:xfrm>
            <a:off x="4709159" y="1938528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79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8-10주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2377440"/>
            <a:ext cx="11887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79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2단계 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4개 플랫폼 API 연동</a:t>
            </a:r>
            <a:br/>
            <a:r>
              <a:t>통합 대시보드</a:t>
            </a:r>
            <a:br/>
            <a:r>
              <a:t>견적서 자동 작성</a:t>
            </a:r>
            <a:br/>
            <a:r>
              <a:t>견적 비교 기능</a:t>
            </a:r>
          </a:p>
        </p:txBody>
      </p:sp>
      <p:sp>
        <p:nvSpPr>
          <p:cNvPr id="28" name="Oval 27"/>
          <p:cNvSpPr/>
          <p:nvPr/>
        </p:nvSpPr>
        <p:spPr>
          <a:xfrm>
            <a:off x="5989320" y="1938528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맑은 고딕"/>
              </a:defRPr>
            </a:pPr>
            <a:r>
              <a:t>11주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377440"/>
            <a:ext cx="11887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통합 테스트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통합 테스트</a:t>
            </a:r>
            <a:br/>
            <a:r>
              <a:t>권한별 테스트</a:t>
            </a:r>
            <a:br/>
            <a:r>
              <a:t>성능 최적화</a:t>
            </a:r>
            <a:br/>
            <a:r>
              <a:t>보안 점검</a:t>
            </a:r>
          </a:p>
        </p:txBody>
      </p:sp>
      <p:sp>
        <p:nvSpPr>
          <p:cNvPr id="33" name="Oval 32"/>
          <p:cNvSpPr/>
          <p:nvPr/>
        </p:nvSpPr>
        <p:spPr>
          <a:xfrm>
            <a:off x="7269480" y="1938528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맑은 고딕"/>
              </a:defRPr>
            </a:pPr>
            <a:r>
              <a:t>12주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377440"/>
            <a:ext cx="11887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배포 · 교육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사용자 교육</a:t>
            </a:r>
            <a:br/>
            <a:r>
              <a:t>운영 서버 배포</a:t>
            </a:r>
            <a:br/>
            <a:r>
              <a:t>매뉴얼 전달</a:t>
            </a:r>
            <a:br/>
            <a:r>
              <a:t>프로젝트 완료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주요 마일스톤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029200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M1  2주차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요구사항 확정, 권한/역할 정의, 견적서 템플릿 승인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376672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376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M2  4주차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376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개발 환경 구축 완료, DB 스키마 확정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724144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57241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M3  7주차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57241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사용자/권한/고객사 관리 + 파일 업로드 + AI 챗봇 완료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6071616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" y="6071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M4  10주차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60716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4개 플랫폼 통합 + 견적서 자동 작성 완료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6419088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M5  12주차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통합 테스트 완료 → 운영 배포 → 인수인계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투자 비용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  <a:latin typeface="맑은 고딕"/>
              </a:defRPr>
            </a:pPr>
            <a:r>
              <a:t>총 프로젝트 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35,000,000원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맑은 고딕"/>
              </a:defRPr>
            </a:pPr>
            <a:r>
              <a:t>VAT 별도  |  3개월 개발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비용 내역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029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인건비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07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PM 1명 + FE 1명 + BE 2명 + AI 1명 + QA 1명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074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28,000,000원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인프라/라이선스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64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클라우드, AI API, 개발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64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2,500,000원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5029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프로젝트 관리비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형상관리, 문서화, 리스크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2,500,000원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779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QA/테스트 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79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통합 테스트, 보안 점검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779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1,000,000원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17920"/>
            <a:ext cx="5029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6236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예비비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236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요구사항 변경 대응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6236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1,000,000원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931920"/>
            <a:ext cx="5303520" cy="2743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투자 대비 기대 효과 (연간)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57200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4590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인건비 절감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8280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업무 시간 60% 절감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약 3,500만원/년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16636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0" y="51846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매출 증대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4223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처리량 200% 증가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약 8,000만원/년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576072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57790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비용 절감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167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견적서 외주 + 고객 이탈 방지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약 1,500만원/년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6400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투자 회수 기간: 약 3~4개월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9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투자 비용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5C8B0E1-2E34-6847-BE4D-92CA28FAA37A}"/>
              </a:ext>
            </a:extLst>
          </p:cNvPr>
          <p:cNvSpPr txBox="1"/>
          <p:nvPr/>
        </p:nvSpPr>
        <p:spPr>
          <a:xfrm>
            <a:off x="731520" y="118872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74D"/>
                </a:solidFill>
                <a:latin typeface="맑은 고딕"/>
              </a:defRPr>
            </a:pPr>
            <a:r>
              <a:rPr dirty="0"/>
              <a:t>📦 1차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(3개월, 35,000,000원</a:t>
            </a:r>
            <a:r>
              <a:rPr lang="en-US" dirty="0"/>
              <a:t>/vat</a:t>
            </a:r>
            <a:r>
              <a:rPr lang="ko-KR" altLang="en-US" dirty="0"/>
              <a:t>별도</a:t>
            </a:r>
            <a:r>
              <a:rPr dirty="0"/>
              <a:t>)</a:t>
            </a:r>
          </a:p>
        </p:txBody>
      </p:sp>
      <p:sp>
        <p:nvSpPr>
          <p:cNvPr id="102" name="Rectangle 4">
            <a:extLst>
              <a:ext uri="{FF2B5EF4-FFF2-40B4-BE49-F238E27FC236}">
                <a16:creationId xmlns:a16="http://schemas.microsoft.com/office/drawing/2014/main" id="{125D12A7-7535-C846-B3D2-47D1688BB049}"/>
              </a:ext>
            </a:extLst>
          </p:cNvPr>
          <p:cNvSpPr/>
          <p:nvPr/>
        </p:nvSpPr>
        <p:spPr>
          <a:xfrm>
            <a:off x="731520" y="1828799"/>
            <a:ext cx="5029200" cy="1397727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E1D6201-51CB-B949-898C-D693E679BC3E}"/>
              </a:ext>
            </a:extLst>
          </p:cNvPr>
          <p:cNvSpPr txBox="1"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1️⃣ 사용자 및 고객사 관리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68103CF-5893-9545-919E-045467608502}"/>
              </a:ext>
            </a:extLst>
          </p:cNvPr>
          <p:cNvSpPr txBox="1"/>
          <p:nvPr/>
        </p:nvSpPr>
        <p:spPr>
          <a:xfrm>
            <a:off x="4114800" y="1920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3,000,000원</a:t>
            </a:r>
          </a:p>
        </p:txBody>
      </p:sp>
      <p:sp>
        <p:nvSpPr>
          <p:cNvPr id="105" name="Rectangle 7">
            <a:extLst>
              <a:ext uri="{FF2B5EF4-FFF2-40B4-BE49-F238E27FC236}">
                <a16:creationId xmlns:a16="http://schemas.microsoft.com/office/drawing/2014/main" id="{16CAE692-E67E-544B-9F3C-42912568FDDB}"/>
              </a:ext>
            </a:extLst>
          </p:cNvPr>
          <p:cNvSpPr/>
          <p:nvPr/>
        </p:nvSpPr>
        <p:spPr>
          <a:xfrm>
            <a:off x="914400" y="2240280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CF7F43A-1BCC-C748-AEE8-70D4DA695934}"/>
              </a:ext>
            </a:extLst>
          </p:cNvPr>
          <p:cNvSpPr txBox="1"/>
          <p:nvPr/>
        </p:nvSpPr>
        <p:spPr>
          <a:xfrm>
            <a:off x="1097280" y="23317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계정 관리 (로그인/회원가입/권한)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4D82E85-6CA6-7F40-B1A8-E936F47CAC74}"/>
              </a:ext>
            </a:extLst>
          </p:cNvPr>
          <p:cNvSpPr txBox="1"/>
          <p:nvPr/>
        </p:nvSpPr>
        <p:spPr>
          <a:xfrm>
            <a:off x="1097280" y="25603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RBAC 권한 시스템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271FBB7-AF17-0741-BA07-761B38A10092}"/>
              </a:ext>
            </a:extLst>
          </p:cNvPr>
          <p:cNvSpPr txBox="1"/>
          <p:nvPr/>
        </p:nvSpPr>
        <p:spPr>
          <a:xfrm>
            <a:off x="1097280" y="27889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고객사 CRM (정보/거래/이력)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868D336-789C-4542-85B6-B63FA0C99015}"/>
              </a:ext>
            </a:extLst>
          </p:cNvPr>
          <p:cNvSpPr txBox="1"/>
          <p:nvPr/>
        </p:nvSpPr>
        <p:spPr>
          <a:xfrm>
            <a:off x="1097280" y="30175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감사 로그 (활동 추적)</a:t>
            </a:r>
          </a:p>
        </p:txBody>
      </p:sp>
      <p:sp>
        <p:nvSpPr>
          <p:cNvPr id="110" name="Rectangle 12">
            <a:extLst>
              <a:ext uri="{FF2B5EF4-FFF2-40B4-BE49-F238E27FC236}">
                <a16:creationId xmlns:a16="http://schemas.microsoft.com/office/drawing/2014/main" id="{89D7239B-90BE-0742-B41B-F92EE4BA03E7}"/>
              </a:ext>
            </a:extLst>
          </p:cNvPr>
          <p:cNvSpPr/>
          <p:nvPr/>
        </p:nvSpPr>
        <p:spPr>
          <a:xfrm>
            <a:off x="731520" y="3337560"/>
            <a:ext cx="5029200" cy="116912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EC81373-0E49-F943-A6BA-950EF9CE0BCD}"/>
              </a:ext>
            </a:extLst>
          </p:cNvPr>
          <p:cNvSpPr txBox="1"/>
          <p:nvPr/>
        </p:nvSpPr>
        <p:spPr>
          <a:xfrm>
            <a:off x="91440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2️⃣ 파일 업로드 시스템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EDA1F9-E6F8-8A4C-B3E5-65C3AEC7C531}"/>
              </a:ext>
            </a:extLst>
          </p:cNvPr>
          <p:cNvSpPr txBox="1"/>
          <p:nvPr/>
        </p:nvSpPr>
        <p:spPr>
          <a:xfrm>
            <a:off x="4114800" y="3429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5,000,000원</a:t>
            </a:r>
          </a:p>
        </p:txBody>
      </p:sp>
      <p:sp>
        <p:nvSpPr>
          <p:cNvPr id="113" name="Rectangle 15">
            <a:extLst>
              <a:ext uri="{FF2B5EF4-FFF2-40B4-BE49-F238E27FC236}">
                <a16:creationId xmlns:a16="http://schemas.microsoft.com/office/drawing/2014/main" id="{7FE73A5E-0B67-4149-8859-83326FA20FB6}"/>
              </a:ext>
            </a:extLst>
          </p:cNvPr>
          <p:cNvSpPr/>
          <p:nvPr/>
        </p:nvSpPr>
        <p:spPr>
          <a:xfrm>
            <a:off x="914400" y="3749040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3B3994B-8235-4E44-A6F5-582F42DB10A3}"/>
              </a:ext>
            </a:extLst>
          </p:cNvPr>
          <p:cNvSpPr txBox="1"/>
          <p:nvPr/>
        </p:nvSpPr>
        <p:spPr>
          <a:xfrm>
            <a:off x="1097280" y="38404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카톡 파일 업로드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9B8CEF1-151B-674E-8609-F6D41CCCFB4C}"/>
              </a:ext>
            </a:extLst>
          </p:cNvPr>
          <p:cNvSpPr txBox="1"/>
          <p:nvPr/>
        </p:nvSpPr>
        <p:spPr>
          <a:xfrm>
            <a:off x="1097280" y="40690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자동 분류 및 상태 관리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27682E6-62BA-CF4C-9C81-4A277A177675}"/>
              </a:ext>
            </a:extLst>
          </p:cNvPr>
          <p:cNvSpPr txBox="1"/>
          <p:nvPr/>
        </p:nvSpPr>
        <p:spPr>
          <a:xfrm>
            <a:off x="1097280" y="42976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OCR 데이터 추출 (선택)</a:t>
            </a:r>
          </a:p>
        </p:txBody>
      </p:sp>
      <p:sp>
        <p:nvSpPr>
          <p:cNvPr id="117" name="Rectangle 19">
            <a:extLst>
              <a:ext uri="{FF2B5EF4-FFF2-40B4-BE49-F238E27FC236}">
                <a16:creationId xmlns:a16="http://schemas.microsoft.com/office/drawing/2014/main" id="{45401949-18B1-1942-BA26-35B99C70EB8F}"/>
              </a:ext>
            </a:extLst>
          </p:cNvPr>
          <p:cNvSpPr/>
          <p:nvPr/>
        </p:nvSpPr>
        <p:spPr>
          <a:xfrm>
            <a:off x="731520" y="4637908"/>
            <a:ext cx="5029200" cy="119465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37ED310-0BB2-B048-BA3E-5C9AAFC268E8}"/>
              </a:ext>
            </a:extLst>
          </p:cNvPr>
          <p:cNvSpPr txBox="1"/>
          <p:nvPr/>
        </p:nvSpPr>
        <p:spPr>
          <a:xfrm>
            <a:off x="914400" y="47293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3️⃣ AI 챗봇 메뉴얼 시스템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2C8C9C0-8F43-6743-854E-37CFA6033507}"/>
              </a:ext>
            </a:extLst>
          </p:cNvPr>
          <p:cNvSpPr txBox="1"/>
          <p:nvPr/>
        </p:nvSpPr>
        <p:spPr>
          <a:xfrm>
            <a:off x="4114800" y="47293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8,500,000원</a:t>
            </a:r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AD267D41-E009-DA4E-93DC-DBAD5D315177}"/>
              </a:ext>
            </a:extLst>
          </p:cNvPr>
          <p:cNvSpPr/>
          <p:nvPr/>
        </p:nvSpPr>
        <p:spPr>
          <a:xfrm>
            <a:off x="914400" y="5049389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24D876A-0D8C-2240-9367-2FE4DFC95298}"/>
              </a:ext>
            </a:extLst>
          </p:cNvPr>
          <p:cNvSpPr txBox="1"/>
          <p:nvPr/>
        </p:nvSpPr>
        <p:spPr>
          <a:xfrm>
            <a:off x="1097280" y="51408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벡터 DB 구축 (RAG)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F6A031A-5C13-AF48-A0BA-5E04670ACDE7}"/>
              </a:ext>
            </a:extLst>
          </p:cNvPr>
          <p:cNvSpPr txBox="1"/>
          <p:nvPr/>
        </p:nvSpPr>
        <p:spPr>
          <a:xfrm>
            <a:off x="1097280" y="53694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ChatGPT/Gemini API 연동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DB0C71E-EFA2-0D4E-A091-AB4463E112E8}"/>
              </a:ext>
            </a:extLst>
          </p:cNvPr>
          <p:cNvSpPr txBox="1"/>
          <p:nvPr/>
        </p:nvSpPr>
        <p:spPr>
          <a:xfrm>
            <a:off x="1097280" y="559802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실시간 질의응답</a:t>
            </a:r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4C21933E-C3FE-5A41-8458-C8558760788A}"/>
              </a:ext>
            </a:extLst>
          </p:cNvPr>
          <p:cNvSpPr/>
          <p:nvPr/>
        </p:nvSpPr>
        <p:spPr>
          <a:xfrm>
            <a:off x="6217920" y="1828800"/>
            <a:ext cx="5029200" cy="11887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A567943-B134-C646-8AAD-3E7128AB4E2A}"/>
              </a:ext>
            </a:extLst>
          </p:cNvPr>
          <p:cNvSpPr txBox="1"/>
          <p:nvPr/>
        </p:nvSpPr>
        <p:spPr>
          <a:xfrm>
            <a:off x="640080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4️⃣ 4개 플랫폼 API 통합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2FDB15A-B563-3340-AED0-478A7766A4CF}"/>
              </a:ext>
            </a:extLst>
          </p:cNvPr>
          <p:cNvSpPr txBox="1"/>
          <p:nvPr/>
        </p:nvSpPr>
        <p:spPr>
          <a:xfrm>
            <a:off x="9601200" y="1920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10,000,000원</a:t>
            </a:r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602F546B-2D75-DB4B-AC21-58BCA055CA4D}"/>
              </a:ext>
            </a:extLst>
          </p:cNvPr>
          <p:cNvSpPr/>
          <p:nvPr/>
        </p:nvSpPr>
        <p:spPr>
          <a:xfrm>
            <a:off x="6400800" y="2240280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F9B041F-F67B-614A-A6B2-7E2BD039E165}"/>
              </a:ext>
            </a:extLst>
          </p:cNvPr>
          <p:cNvSpPr txBox="1"/>
          <p:nvPr/>
        </p:nvSpPr>
        <p:spPr>
          <a:xfrm>
            <a:off x="6583680" y="23317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전국24시콜화물 • 화물맨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70D70CD-18BC-E54F-AF06-1A7AA0227D60}"/>
              </a:ext>
            </a:extLst>
          </p:cNvPr>
          <p:cNvSpPr txBox="1"/>
          <p:nvPr/>
        </p:nvSpPr>
        <p:spPr>
          <a:xfrm>
            <a:off x="6583680" y="25603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원콜 • 인성데이타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8CFEBEE-E82C-E044-A7B5-D7665BA73185}"/>
              </a:ext>
            </a:extLst>
          </p:cNvPr>
          <p:cNvSpPr txBox="1"/>
          <p:nvPr/>
        </p:nvSpPr>
        <p:spPr>
          <a:xfrm>
            <a:off x="6583680" y="282187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+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131" name="Rectangle 33">
            <a:extLst>
              <a:ext uri="{FF2B5EF4-FFF2-40B4-BE49-F238E27FC236}">
                <a16:creationId xmlns:a16="http://schemas.microsoft.com/office/drawing/2014/main" id="{9B356DBB-C759-7A4E-988A-A3CB4F7D6606}"/>
              </a:ext>
            </a:extLst>
          </p:cNvPr>
          <p:cNvSpPr/>
          <p:nvPr/>
        </p:nvSpPr>
        <p:spPr>
          <a:xfrm>
            <a:off x="6217920" y="3105399"/>
            <a:ext cx="5029200" cy="1143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0D2759D-A21B-0A4D-80AA-AFDAA84334DB}"/>
              </a:ext>
            </a:extLst>
          </p:cNvPr>
          <p:cNvSpPr txBox="1"/>
          <p:nvPr/>
        </p:nvSpPr>
        <p:spPr>
          <a:xfrm>
            <a:off x="6400800" y="31968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5️⃣ 통합 관리 대시보드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B18A48D-BE37-234B-82A1-693F7A7ECE0F}"/>
              </a:ext>
            </a:extLst>
          </p:cNvPr>
          <p:cNvSpPr txBox="1"/>
          <p:nvPr/>
        </p:nvSpPr>
        <p:spPr>
          <a:xfrm>
            <a:off x="9601200" y="31968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3,500,000원</a:t>
            </a:r>
          </a:p>
        </p:txBody>
      </p:sp>
      <p:sp>
        <p:nvSpPr>
          <p:cNvPr id="134" name="Rectangle 36">
            <a:extLst>
              <a:ext uri="{FF2B5EF4-FFF2-40B4-BE49-F238E27FC236}">
                <a16:creationId xmlns:a16="http://schemas.microsoft.com/office/drawing/2014/main" id="{A19F563C-FBC5-F246-A9BA-E618F384066F}"/>
              </a:ext>
            </a:extLst>
          </p:cNvPr>
          <p:cNvSpPr/>
          <p:nvPr/>
        </p:nvSpPr>
        <p:spPr>
          <a:xfrm>
            <a:off x="6400800" y="3516879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83DCBCB-25B7-5249-99E0-F76D23B50979}"/>
              </a:ext>
            </a:extLst>
          </p:cNvPr>
          <p:cNvSpPr txBox="1"/>
          <p:nvPr/>
        </p:nvSpPr>
        <p:spPr>
          <a:xfrm>
            <a:off x="6583680" y="3608319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권한별 맞춤 대시보드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37531C6-0FA3-ED4C-BC0E-0392ED74DA97}"/>
              </a:ext>
            </a:extLst>
          </p:cNvPr>
          <p:cNvSpPr txBox="1"/>
          <p:nvPr/>
        </p:nvSpPr>
        <p:spPr>
          <a:xfrm>
            <a:off x="6583680" y="3836919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실시간 모니터링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7973573-1240-6A48-B994-BA3F31184FEE}"/>
              </a:ext>
            </a:extLst>
          </p:cNvPr>
          <p:cNvSpPr txBox="1"/>
          <p:nvPr/>
        </p:nvSpPr>
        <p:spPr>
          <a:xfrm>
            <a:off x="6583680" y="4065519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통계 리포트</a:t>
            </a:r>
          </a:p>
        </p:txBody>
      </p:sp>
      <p:sp>
        <p:nvSpPr>
          <p:cNvPr id="138" name="Rectangle 40">
            <a:extLst>
              <a:ext uri="{FF2B5EF4-FFF2-40B4-BE49-F238E27FC236}">
                <a16:creationId xmlns:a16="http://schemas.microsoft.com/office/drawing/2014/main" id="{B49DAD75-A95F-0C46-80E5-83EDCD1E5ADF}"/>
              </a:ext>
            </a:extLst>
          </p:cNvPr>
          <p:cNvSpPr/>
          <p:nvPr/>
        </p:nvSpPr>
        <p:spPr>
          <a:xfrm>
            <a:off x="6217920" y="4334209"/>
            <a:ext cx="5029200" cy="1142999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0E4450-76B4-5242-A04F-33AC71625179}"/>
              </a:ext>
            </a:extLst>
          </p:cNvPr>
          <p:cNvSpPr txBox="1"/>
          <p:nvPr/>
        </p:nvSpPr>
        <p:spPr>
          <a:xfrm>
            <a:off x="6400800" y="442565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dirty="0"/>
              <a:t>6️⃣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견적서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작성</a:t>
            </a:r>
            <a:endParaRPr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CC34DB0-84CB-9F46-9520-03115141FFF9}"/>
              </a:ext>
            </a:extLst>
          </p:cNvPr>
          <p:cNvSpPr txBox="1"/>
          <p:nvPr/>
        </p:nvSpPr>
        <p:spPr>
          <a:xfrm>
            <a:off x="9601200" y="442565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3,000,000원</a:t>
            </a:r>
          </a:p>
        </p:txBody>
      </p:sp>
      <p:sp>
        <p:nvSpPr>
          <p:cNvPr id="141" name="Rectangle 43">
            <a:extLst>
              <a:ext uri="{FF2B5EF4-FFF2-40B4-BE49-F238E27FC236}">
                <a16:creationId xmlns:a16="http://schemas.microsoft.com/office/drawing/2014/main" id="{3F77F1EB-1FC7-F144-9D14-28563D1E343D}"/>
              </a:ext>
            </a:extLst>
          </p:cNvPr>
          <p:cNvSpPr/>
          <p:nvPr/>
        </p:nvSpPr>
        <p:spPr>
          <a:xfrm>
            <a:off x="6400800" y="4745691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017B3B8-6A5D-1F46-A25B-04D3685466DC}"/>
              </a:ext>
            </a:extLst>
          </p:cNvPr>
          <p:cNvSpPr txBox="1"/>
          <p:nvPr/>
        </p:nvSpPr>
        <p:spPr>
          <a:xfrm>
            <a:off x="6583680" y="483713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고객사 정보 자동 연동 (CRM)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A9EB74F-A9BB-C049-B32D-CBD775DCA6DE}"/>
              </a:ext>
            </a:extLst>
          </p:cNvPr>
          <p:cNvSpPr txBox="1"/>
          <p:nvPr/>
        </p:nvSpPr>
        <p:spPr>
          <a:xfrm>
            <a:off x="6583680" y="506573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할인율/마진율 자동 계산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1C880CC-6301-0B43-ADCE-0DDD9948D67D}"/>
              </a:ext>
            </a:extLst>
          </p:cNvPr>
          <p:cNvSpPr txBox="1"/>
          <p:nvPr/>
        </p:nvSpPr>
        <p:spPr>
          <a:xfrm>
            <a:off x="6583680" y="529433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• PDF 생성 + 이메일 발송</a:t>
            </a:r>
          </a:p>
        </p:txBody>
      </p:sp>
      <p:sp>
        <p:nvSpPr>
          <p:cNvPr id="145" name="Rectangle 47">
            <a:extLst>
              <a:ext uri="{FF2B5EF4-FFF2-40B4-BE49-F238E27FC236}">
                <a16:creationId xmlns:a16="http://schemas.microsoft.com/office/drawing/2014/main" id="{8BBCF6D1-6E9A-E44F-A2A8-D29A1B0CC57A}"/>
              </a:ext>
            </a:extLst>
          </p:cNvPr>
          <p:cNvSpPr/>
          <p:nvPr/>
        </p:nvSpPr>
        <p:spPr>
          <a:xfrm>
            <a:off x="6217920" y="5565670"/>
            <a:ext cx="5029200" cy="10058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D482285-99EC-3843-B2C0-2369FDDC351A}"/>
              </a:ext>
            </a:extLst>
          </p:cNvPr>
          <p:cNvSpPr txBox="1"/>
          <p:nvPr/>
        </p:nvSpPr>
        <p:spPr>
          <a:xfrm>
            <a:off x="6346174" y="55980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7️⃣ 인프라 및 배포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8A15E6D-F588-FB43-9BC7-344F0CCCDF95}"/>
              </a:ext>
            </a:extLst>
          </p:cNvPr>
          <p:cNvSpPr txBox="1"/>
          <p:nvPr/>
        </p:nvSpPr>
        <p:spPr>
          <a:xfrm>
            <a:off x="9546574" y="55980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2,000,000원</a:t>
            </a:r>
          </a:p>
        </p:txBody>
      </p:sp>
      <p:sp>
        <p:nvSpPr>
          <p:cNvPr id="148" name="Rectangle 50">
            <a:extLst>
              <a:ext uri="{FF2B5EF4-FFF2-40B4-BE49-F238E27FC236}">
                <a16:creationId xmlns:a16="http://schemas.microsoft.com/office/drawing/2014/main" id="{CC27C763-394B-804C-90A9-F2784057C13C}"/>
              </a:ext>
            </a:extLst>
          </p:cNvPr>
          <p:cNvSpPr/>
          <p:nvPr/>
        </p:nvSpPr>
        <p:spPr>
          <a:xfrm>
            <a:off x="6346174" y="5918068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BE20EBA-B2B3-E045-98ED-718EFDE64DB0}"/>
              </a:ext>
            </a:extLst>
          </p:cNvPr>
          <p:cNvSpPr txBox="1"/>
          <p:nvPr/>
        </p:nvSpPr>
        <p:spPr>
          <a:xfrm>
            <a:off x="6529054" y="600950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• AWS/NCP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2F02A04-83BD-E74A-B294-A5F9EACC142A}"/>
              </a:ext>
            </a:extLst>
          </p:cNvPr>
          <p:cNvSpPr txBox="1"/>
          <p:nvPr/>
        </p:nvSpPr>
        <p:spPr>
          <a:xfrm>
            <a:off x="6529054" y="6234955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rPr dirty="0"/>
              <a:t>• CI/CD </a:t>
            </a:r>
            <a:r>
              <a:rPr dirty="0" err="1"/>
              <a:t>파이프라인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8873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6576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74D"/>
                </a:solidFill>
                <a:latin typeface="맑은 고딕"/>
              </a:defRPr>
            </a:pPr>
            <a:r>
              <a:rPr sz="2400" dirty="0"/>
              <a:t>🚀 2차 </a:t>
            </a:r>
            <a:r>
              <a:rPr sz="2400" dirty="0" err="1"/>
              <a:t>개발</a:t>
            </a:r>
            <a:r>
              <a:rPr sz="2400" dirty="0"/>
              <a:t> </a:t>
            </a:r>
            <a:r>
              <a:rPr sz="2400" dirty="0" err="1"/>
              <a:t>범위</a:t>
            </a:r>
            <a:r>
              <a:rPr sz="2400" dirty="0"/>
              <a:t> (</a:t>
            </a:r>
            <a:r>
              <a:rPr sz="2400" dirty="0" err="1"/>
              <a:t>선택사항</a:t>
            </a:r>
            <a:r>
              <a:rPr sz="2400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695603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rPr sz="1300" dirty="0"/>
              <a:t>1차 </a:t>
            </a:r>
            <a:r>
              <a:rPr sz="1300" dirty="0" err="1"/>
              <a:t>개발</a:t>
            </a:r>
            <a:r>
              <a:rPr sz="1300" dirty="0"/>
              <a:t> </a:t>
            </a:r>
            <a:r>
              <a:rPr sz="1300" dirty="0" err="1"/>
              <a:t>완료</a:t>
            </a:r>
            <a:r>
              <a:rPr sz="1300" dirty="0"/>
              <a:t> </a:t>
            </a:r>
            <a:r>
              <a:rPr sz="1300" dirty="0" err="1"/>
              <a:t>후</a:t>
            </a:r>
            <a:r>
              <a:rPr sz="1300" dirty="0"/>
              <a:t> </a:t>
            </a:r>
            <a:r>
              <a:rPr sz="1300" dirty="0" err="1"/>
              <a:t>추가로</a:t>
            </a:r>
            <a:r>
              <a:rPr sz="1300" dirty="0"/>
              <a:t> </a:t>
            </a:r>
            <a:r>
              <a:rPr sz="1300" dirty="0" err="1"/>
              <a:t>구축</a:t>
            </a:r>
            <a:r>
              <a:rPr sz="1300" dirty="0"/>
              <a:t> </a:t>
            </a:r>
            <a:r>
              <a:rPr sz="1300" dirty="0" err="1"/>
              <a:t>가능한</a:t>
            </a:r>
            <a:r>
              <a:rPr sz="1300" dirty="0"/>
              <a:t> </a:t>
            </a:r>
            <a:r>
              <a:rPr sz="1300" dirty="0" err="1"/>
              <a:t>고급</a:t>
            </a:r>
            <a:r>
              <a:rPr sz="1300" dirty="0"/>
              <a:t> </a:t>
            </a:r>
            <a:r>
              <a:rPr sz="1300" dirty="0" err="1"/>
              <a:t>기능</a:t>
            </a:r>
            <a:endParaRPr sz="1300" dirty="0"/>
          </a:p>
        </p:txBody>
      </p:sp>
      <p:sp>
        <p:nvSpPr>
          <p:cNvPr id="6" name="Rectangle 5"/>
          <p:cNvSpPr/>
          <p:nvPr/>
        </p:nvSpPr>
        <p:spPr>
          <a:xfrm>
            <a:off x="731520" y="2148839"/>
            <a:ext cx="5029200" cy="13145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19" y="2148839"/>
            <a:ext cx="45719" cy="12435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sz="1400"/>
              <a:t>1️⃣ 외주 차량 관리 시스템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60319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59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외주 차량 등록/관리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2071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외주 업체 정보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72383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정산 시스템 (수수료 계산)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82695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외주 차량 배차 이력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612494"/>
            <a:ext cx="5029200" cy="139780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19" y="3520439"/>
            <a:ext cx="45719" cy="14867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03935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sz="1400"/>
              <a:t>2️⃣ 배송 추적 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023974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4115414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실시간 GPS 위치 추적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325726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배송 상태 관리 (픽업/배송중/완료)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536038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고객 SMS 자동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726662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 dirty="0"/>
              <a:t>• </a:t>
            </a:r>
            <a:r>
              <a:rPr sz="900" dirty="0" err="1"/>
              <a:t>배송</a:t>
            </a:r>
            <a:r>
              <a:rPr sz="900" dirty="0"/>
              <a:t> </a:t>
            </a:r>
            <a:r>
              <a:rPr sz="900" dirty="0" err="1"/>
              <a:t>이력</a:t>
            </a:r>
            <a:r>
              <a:rPr sz="900" dirty="0"/>
              <a:t> </a:t>
            </a:r>
            <a:r>
              <a:rPr sz="900" dirty="0" err="1"/>
              <a:t>조회</a:t>
            </a:r>
            <a:endParaRPr sz="900" dirty="0"/>
          </a:p>
        </p:txBody>
      </p:sp>
      <p:sp>
        <p:nvSpPr>
          <p:cNvPr id="24" name="Rectangle 23"/>
          <p:cNvSpPr/>
          <p:nvPr/>
        </p:nvSpPr>
        <p:spPr>
          <a:xfrm>
            <a:off x="777239" y="5114118"/>
            <a:ext cx="5029200" cy="136464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 flipH="1">
            <a:off x="749808" y="5144260"/>
            <a:ext cx="45719" cy="1334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7" y="523570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sz="1400"/>
              <a:t>3️⃣ 고급 템플릿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19" y="5525598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61287" y="5647179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엑셀 템플릿 라이브러리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7" y="5857492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자동 양식 생성 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7" y="6067803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템플릿 버전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7" y="6273282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 dirty="0"/>
              <a:t>• </a:t>
            </a:r>
            <a:r>
              <a:rPr sz="900" dirty="0" err="1"/>
              <a:t>사용자</a:t>
            </a:r>
            <a:r>
              <a:rPr sz="900" dirty="0"/>
              <a:t> </a:t>
            </a:r>
            <a:r>
              <a:rPr sz="900" dirty="0" err="1"/>
              <a:t>정의</a:t>
            </a:r>
            <a:r>
              <a:rPr sz="900" dirty="0"/>
              <a:t> </a:t>
            </a:r>
            <a:r>
              <a:rPr sz="900" dirty="0" err="1"/>
              <a:t>템플릿</a:t>
            </a:r>
            <a:r>
              <a:rPr sz="900" dirty="0"/>
              <a:t> </a:t>
            </a:r>
            <a:r>
              <a:rPr sz="900" dirty="0" err="1"/>
              <a:t>등록</a:t>
            </a:r>
            <a:endParaRPr sz="900" dirty="0"/>
          </a:p>
        </p:txBody>
      </p:sp>
      <p:sp>
        <p:nvSpPr>
          <p:cNvPr id="33" name="Rectangle 32"/>
          <p:cNvSpPr/>
          <p:nvPr/>
        </p:nvSpPr>
        <p:spPr>
          <a:xfrm>
            <a:off x="6217920" y="2148839"/>
            <a:ext cx="5029200" cy="13145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19" y="2148838"/>
            <a:ext cx="45719" cy="131450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24028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sz="1400"/>
              <a:t>4️⃣ 모바일 앱 (기사용)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560319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2651759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기사 전용 모바일 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862071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배차 알림 푸시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072383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GPS 위치 자동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282695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전자 서명 기능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611877"/>
            <a:ext cx="5029200" cy="1364641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33155" y="3611877"/>
            <a:ext cx="45719" cy="136464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3703319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rPr sz="1400"/>
              <a:t>5️⃣ 고급 CRM 기능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023358"/>
            <a:ext cx="4389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4114798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고객 분석 대시보드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325110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자동화된 마케팅 (이메일/SMS)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535422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맞춤형 리포트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745734"/>
            <a:ext cx="393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sz="900"/>
              <a:t>• 고객 세그먼트 관리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0487" y="6175524"/>
            <a:ext cx="61201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rPr sz="1000" dirty="0"/>
              <a:t>※ 2차 </a:t>
            </a:r>
            <a:r>
              <a:rPr sz="1000" dirty="0" err="1"/>
              <a:t>개발은</a:t>
            </a:r>
            <a:r>
              <a:rPr sz="1000" dirty="0"/>
              <a:t> 1차 </a:t>
            </a:r>
            <a:r>
              <a:rPr sz="1000" dirty="0" err="1"/>
              <a:t>개발</a:t>
            </a:r>
            <a:r>
              <a:rPr sz="1000" dirty="0"/>
              <a:t> </a:t>
            </a:r>
            <a:r>
              <a:rPr sz="1000" dirty="0" err="1"/>
              <a:t>완료</a:t>
            </a:r>
            <a:r>
              <a:rPr sz="1000" dirty="0"/>
              <a:t> </a:t>
            </a:r>
            <a:r>
              <a:rPr sz="1000" dirty="0" err="1"/>
              <a:t>후</a:t>
            </a:r>
            <a:r>
              <a:rPr sz="1000" dirty="0"/>
              <a:t> </a:t>
            </a:r>
            <a:r>
              <a:rPr sz="1000" dirty="0" err="1"/>
              <a:t>별도</a:t>
            </a:r>
            <a:r>
              <a:rPr sz="1000" dirty="0"/>
              <a:t> </a:t>
            </a:r>
            <a:r>
              <a:rPr sz="1000" dirty="0" err="1"/>
              <a:t>협의를</a:t>
            </a:r>
            <a:r>
              <a:rPr sz="1000" dirty="0"/>
              <a:t> </a:t>
            </a:r>
            <a:r>
              <a:rPr sz="1000" dirty="0" err="1"/>
              <a:t>통해</a:t>
            </a:r>
            <a:r>
              <a:rPr sz="1000" dirty="0"/>
              <a:t> </a:t>
            </a:r>
            <a:r>
              <a:rPr sz="1000" dirty="0" err="1"/>
              <a:t>진행</a:t>
            </a:r>
            <a:r>
              <a:rPr sz="1000" dirty="0"/>
              <a:t> </a:t>
            </a:r>
            <a:r>
              <a:rPr sz="1000" dirty="0" err="1"/>
              <a:t>가능합니다</a:t>
            </a:r>
            <a:r>
              <a:rPr sz="1000" dirty="0"/>
              <a:t>. (</a:t>
            </a:r>
            <a:r>
              <a:rPr sz="1000" dirty="0" err="1"/>
              <a:t>전체</a:t>
            </a:r>
            <a:r>
              <a:rPr sz="1000" dirty="0"/>
              <a:t> </a:t>
            </a:r>
            <a:r>
              <a:rPr sz="1000" dirty="0" err="1"/>
              <a:t>또는</a:t>
            </a:r>
            <a:r>
              <a:rPr sz="1000" dirty="0"/>
              <a:t> </a:t>
            </a:r>
            <a:r>
              <a:rPr sz="1000" dirty="0" err="1"/>
              <a:t>부분</a:t>
            </a:r>
            <a:r>
              <a:rPr sz="1000" dirty="0"/>
              <a:t> </a:t>
            </a:r>
            <a:r>
              <a:rPr sz="1000" dirty="0" err="1"/>
              <a:t>선택</a:t>
            </a:r>
            <a:r>
              <a:rPr sz="1000" dirty="0"/>
              <a:t> </a:t>
            </a:r>
            <a:r>
              <a:rPr sz="1000" dirty="0" err="1"/>
              <a:t>가능</a:t>
            </a:r>
            <a:r>
              <a:rPr sz="1000" dirty="0"/>
              <a:t>)</a:t>
            </a:r>
          </a:p>
        </p:txBody>
      </p:sp>
      <p:sp>
        <p:nvSpPr>
          <p:cNvPr id="58" name="Rectangle 2">
            <a:extLst>
              <a:ext uri="{FF2B5EF4-FFF2-40B4-BE49-F238E27FC236}">
                <a16:creationId xmlns:a16="http://schemas.microsoft.com/office/drawing/2014/main" id="{6913F120-E54B-4143-B439-8E3F6D91623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7C2A60-EA8C-8A42-A4C0-1E59542CA8E6}"/>
              </a:ext>
            </a:extLst>
          </p:cNvPr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578F22-4C77-DD46-ABE2-732B8C32EE74}"/>
              </a:ext>
            </a:extLst>
          </p:cNvPr>
          <p:cNvSpPr txBox="1"/>
          <p:nvPr/>
        </p:nvSpPr>
        <p:spPr>
          <a:xfrm>
            <a:off x="731520" y="365760"/>
            <a:ext cx="731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ko-KR" altLang="en-US" dirty="0" err="1"/>
              <a:t>개발범위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추후진행제안</a:t>
            </a:r>
            <a:r>
              <a:rPr lang="en-US" altLang="ko-KR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협력 사항 및 프로젝트 결론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716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rPr lang="ko-KR" altLang="en-US" dirty="0" err="1"/>
              <a:t>대건종합특송</a:t>
            </a:r>
            <a:r>
              <a:rPr dirty="0"/>
              <a:t> </a:t>
            </a:r>
            <a:r>
              <a:rPr dirty="0" err="1"/>
              <a:t>준비</a:t>
            </a:r>
            <a:r>
              <a:rPr dirty="0"/>
              <a:t> </a:t>
            </a:r>
            <a:r>
              <a:rPr dirty="0" err="1"/>
              <a:t>사항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조직/권한 정보 (부서 구조, 직원 목록, 권한 요구)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 데이터 (Excel/CSV), 분류 기준, 가격 정책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업무 메뉴얼, 요일별 업무 흐름, FAQ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4개 화물 플랫폼 계정 정보, API 키 발급 협조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기존 견적서 샘플 (10건+), 브랜딩 자료 (로고, 컬러)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프로젝트 담당자 지정, 주 1회 정기 미팅 참석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제안사 제공 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PM 1명 (풀타임) + 개발팀 5명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주간 진행 상황 보고, 이슈/리스크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소스 코드 (GitHub), API 문서, DB 스키마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운영 매뉴얼, 사용자 가이드 (권한별)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3개월 무상 유지보수 (배포 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931920"/>
            <a:ext cx="4389120" cy="2743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운영 및 유지보수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457200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무상 (3개월)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617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버그 수정, 장애 대응</a:t>
            </a:r>
            <a:br/>
            <a:r>
              <a:t>시스템 모니터링, 기술 지원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566928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유상 (4개월~)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715000"/>
            <a:ext cx="21031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rPr lang="ko-KR" altLang="en-US" dirty="0"/>
              <a:t>별도</a:t>
            </a:r>
            <a:r>
              <a:rPr dirty="0" err="1"/>
              <a:t>협의</a:t>
            </a:r>
            <a:br>
              <a:rPr dirty="0"/>
            </a:b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패치</a:t>
            </a:r>
            <a:r>
              <a:rPr dirty="0"/>
              <a:t>,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개선</a:t>
            </a:r>
            <a:br>
              <a:rPr dirty="0"/>
            </a:b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월</a:t>
            </a:r>
            <a:r>
              <a:rPr dirty="0"/>
              <a:t> 20시간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A5FA"/>
                </a:solidFill>
                <a:latin typeface="맑은 고딕"/>
              </a:defRPr>
            </a:pPr>
            <a:r>
              <a:rPr lang="ko-KR" altLang="en-US" dirty="0" err="1"/>
              <a:t>대건종합특송</a:t>
            </a:r>
            <a:r>
              <a:rPr dirty="0"/>
              <a:t> 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 </a:t>
            </a:r>
            <a:r>
              <a:rPr dirty="0" err="1"/>
              <a:t>제안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029200" y="3291840"/>
            <a:ext cx="21031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[제안사명]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3891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맑은 고딕"/>
              </a:defRPr>
            </a:pPr>
            <a:r>
              <a:t>담당자: [이름]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7548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맑은 고딕"/>
              </a:defRPr>
            </a:pPr>
            <a:r>
              <a:t>이메일: [email@example.com]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맑은 고딕"/>
              </a:defRPr>
            </a:pPr>
            <a:r>
              <a:t>전화: [010-XXXX-XXXX]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6692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맑은 고딕"/>
              </a:defRPr>
            </a:pPr>
            <a:r>
              <a:t>2026년 3월 3일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1837</Words>
  <Application>Microsoft Macintosh PowerPoint</Application>
  <PresentationFormat>와이드스크린</PresentationFormat>
  <Paragraphs>342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Microsoft Office User</cp:lastModifiedBy>
  <cp:revision>4</cp:revision>
  <dcterms:created xsi:type="dcterms:W3CDTF">2013-01-27T09:14:16Z</dcterms:created>
  <dcterms:modified xsi:type="dcterms:W3CDTF">2026-03-05T05:07:08Z</dcterms:modified>
  <cp:category/>
</cp:coreProperties>
</file>
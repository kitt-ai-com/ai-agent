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맑은 고딕"/>
              </a:defRPr>
            </a:pPr>
            <a:r>
              <a:t>SYSTEM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D274D"/>
                </a:solidFill>
                <a:latin typeface="맑은 고딕"/>
              </a:defRPr>
            </a:pPr>
            <a:r>
              <a:t>대건종합특송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40AF"/>
                </a:solidFill>
                <a:latin typeface="맑은 고딕"/>
              </a:defRPr>
            </a:pPr>
            <a:r>
              <a:t>스마트 배차 관리 시스템 구축 제안서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27432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맑은 고딕"/>
              </a:defRPr>
            </a:pPr>
            <a:r>
              <a:t>🚚 대형차 배차 업무 디지털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151"/>
                </a:solidFill>
                <a:latin typeface="맑은 고딕"/>
              </a:defRPr>
            </a:pPr>
            <a:r>
              <a:t>[제안사명]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맑은 고딕"/>
              </a:defRPr>
            </a:pPr>
            <a:r>
              <a:t>2026년 3월 4일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74D"/>
                </a:solidFill>
                <a:latin typeface="맑은 고딕"/>
              </a:defRPr>
            </a:pPr>
            <a:r>
              <a:t>📦 1차 개발 범위 (3개월, 35,000,000원)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12618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704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1️⃣ 사용자 및 고객사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704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3,000,000원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26464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계정 관리 (로그인/회원가입/권한)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82495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RBAC 권한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8366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고객사 CRM (정보/거래/이력)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84831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감사 로그 (활동 추적)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96311"/>
            <a:ext cx="5029200" cy="106070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946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2️⃣ 파일 업로드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6946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5,000,000원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825495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80359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카톡 파일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81527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자동 분류 및 상태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82695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OCR 데이터 추출 (선택)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94175"/>
            <a:ext cx="5029200" cy="106070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6732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3️⃣ AI 챗봇 메뉴얼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767327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8,500,000원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023359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78223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벡터 DB 구축 (RAG)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79391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ChatGPT/Gemini API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80559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실시간 질의응답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97280"/>
            <a:ext cx="5029200" cy="106070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1704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4️⃣ 4개 플랫폼 API 통합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11704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10,000,000원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426464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4813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전국24시콜화물 • 화물맨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682495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원콜 • 인성데이타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88366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통합 입력 + 실시간 비교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295144"/>
            <a:ext cx="5029200" cy="106070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3682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5️⃣ 통합 관리 대시보드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3682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3,500,000원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624327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679191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권한별 맞춤 대시보드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88036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실시간 모니터링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081527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통계 리포트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493008"/>
            <a:ext cx="5029200" cy="106070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566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6️⃣ 표준 견적서 자동 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3566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3,000,000원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822191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87705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고객사 정보 자동 연동 (CRM)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07822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할인율/마진율 자동 계산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279392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PDF 생성 + 이메일 발송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690872"/>
            <a:ext cx="5029200" cy="106070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640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7️⃣ 인프라 및 배포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47640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2,000,000원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020056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0749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AWS/NCP 서버 구축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27608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CI/CD 파이프라인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47725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보안 설정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6035040"/>
            <a:ext cx="1051560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74D"/>
                </a:solidFill>
                <a:latin typeface="맑은 고딕"/>
              </a:defRPr>
            </a:pPr>
            <a:r>
              <a:t>총 개발비 (VAT 별도)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35,000,000원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74D"/>
                </a:solidFill>
                <a:latin typeface="맑은 고딕"/>
              </a:defRPr>
            </a:pPr>
            <a:r>
              <a:t>🚀 2차 개발 범위 (선택사항)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1차 개발 완료 후 추가로 구축 가능한 고급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6576" cy="1261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1️⃣ 외주 차량 관리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44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5,000,000원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00784"/>
            <a:ext cx="43891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5564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외주 차량 등록/관리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5681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외주 업체 정보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5798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정산 시스템 (수수료 계산)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59152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외주 차량 배차 이력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70632"/>
            <a:ext cx="502920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70632"/>
            <a:ext cx="36576" cy="1261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4378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2️⃣ 배송 추적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437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7,000,000원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099815"/>
            <a:ext cx="43891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54679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실시간 GPS 위치 추적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5584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배송 상태 관리 (픽업/배송중/완료)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57015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고객 SMS 자동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58183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배송 이력 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69663"/>
            <a:ext cx="502920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69663"/>
            <a:ext cx="36576" cy="1261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428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3️⃣ 고급 템플릿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428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4,000,000원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98848"/>
            <a:ext cx="43891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53712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엑셀 템플릿 라이브러리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54879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자동 양식 생성 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95604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템플릿 버전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15721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사용자 정의 템플릿 등록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71600"/>
            <a:ext cx="502920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71600"/>
            <a:ext cx="36576" cy="1261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4️⃣ 모바일 앱 (기사용)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1444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8,000,000원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700784"/>
            <a:ext cx="43891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75564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기사 전용 모바일 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195681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배차 알림 푸시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15798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GPS 위치 자동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359152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전자 서명 기능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770632"/>
            <a:ext cx="502920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770632"/>
            <a:ext cx="36576" cy="1261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84378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5️⃣ 고급 CRM 기능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8437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6,000,000원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099815"/>
            <a:ext cx="43891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154679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고객 분석 대시보드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35584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자동화된 마케팅 (이메일/SMS)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557015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맞춤형 리포트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3758183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• 고객 세그먼트 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806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74D"/>
                </a:solidFill>
                <a:latin typeface="맑은 고딕"/>
              </a:defRPr>
            </a:pPr>
            <a:r>
              <a:t>2차 개발 총액 (VAT 별도)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E40AF"/>
                </a:solidFill>
                <a:latin typeface="맑은 고딕"/>
              </a:defRPr>
            </a:pPr>
            <a:r>
              <a:t>30,000,000원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62636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맑은 고딕"/>
              </a:defRPr>
            </a:pPr>
            <a:r>
              <a:t>※ 2차 개발은 1차 개발 완료 후 별도 협의를 통해 진행 가능합니다. (전체 또는 부분 선택 가능)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40A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맑은 고딕"/>
              </a:defRPr>
            </a:pPr>
            <a:r>
              <a:t>대건종합특송 스마트 배차 관리 시스템 구축 제안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57600"/>
            <a:ext cx="210312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274D"/>
                </a:solidFill>
                <a:latin typeface="맑은 고딕"/>
              </a:defRPr>
            </a:pPr>
            <a:r>
              <a:t>[제안사명]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담당자: [이름]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8920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이메일: [email@example.com]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120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전화: [010-XXXX-XXXX]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맑은 고딕"/>
              </a:defRPr>
            </a:pPr>
            <a:r>
              <a:t>2026년 3월 4일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
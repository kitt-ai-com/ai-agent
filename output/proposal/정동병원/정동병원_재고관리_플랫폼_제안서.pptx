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EE7B7"/>
                </a:solidFill>
                <a:latin typeface="맑은 고딕"/>
              </a:defRPr>
            </a:pPr>
            <a:r>
              <a:t>INVENTORY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65440"/>
                </a:solidFill>
                <a:latin typeface="맑은 고딕"/>
              </a:defRPr>
            </a:pPr>
            <a:r>
              <a:t>정동병원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0B981"/>
                </a:solidFill>
                <a:latin typeface="맑은 고딕"/>
              </a:defRPr>
            </a:pPr>
            <a:r>
              <a:t>재고관리 &amp; 세금계산서 자동화 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32004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  <a:latin typeface="맑은 고딕"/>
              </a:defRPr>
            </a:pPr>
            <a:r>
              <a:t>📦 병원 운영 효율화를 위한 스마트 솔루션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재고 부족 사고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맑은 고딕"/>
              </a:defRPr>
            </a:pPr>
            <a:r>
              <a:t>90% 예방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389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세금계산서 발행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맑은 고딕"/>
              </a:defRPr>
            </a:pPr>
            <a:r>
              <a:t>75% 단축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389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투자 회수 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맑은 고딕"/>
              </a:defRPr>
            </a:pPr>
            <a:r>
              <a:t>약 1년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74151"/>
                </a:solidFill>
                <a:latin typeface="맑은 고딕"/>
              </a:defRPr>
            </a:pPr>
            <a:r>
              <a:t>kitt AI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맑은 고딕"/>
              </a:defRPr>
            </a:pPr>
            <a:r>
              <a:t>2026년 3월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440"/>
                </a:solidFill>
                <a:latin typeface="맑은 고딕"/>
              </a:defRPr>
            </a:pPr>
            <a:r>
              <a:t>🏥 정동병원 맞춤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03520" cy="32004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예상 현황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맑은 고딕"/>
              </a:defRPr>
            </a:pPr>
            <a:r>
              <a:t>🛏️ 병상 규모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100~200병상 (중소 규모)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맑은 고딕"/>
              </a:defRPr>
            </a:pPr>
            <a:r>
              <a:t>👥 연간 환자 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432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약 50,000명 추정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맑은 고딕"/>
              </a:defRPr>
            </a:pPr>
            <a:r>
              <a:t>🏥 진료과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37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내과, 외과, 정형외과 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03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맑은 고딕"/>
              </a:defRPr>
            </a:pPr>
            <a:r>
              <a:t>💡 디지털화 수준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319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AI 음성봇 도입 검토 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188720"/>
            <a:ext cx="484632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463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⭐ 추천 플랜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프로페셔널 (Pro)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377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E7B7"/>
                </a:solidFill>
                <a:latin typeface="맑은 고딕"/>
              </a:defRPr>
            </a:pPr>
            <a:r>
              <a:t>중소 규모 병원에 최적화된 플랜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4846320" cy="13716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74D"/>
                </a:solidFill>
                <a:latin typeface="맑은 고딕"/>
              </a:defRPr>
            </a:pPr>
            <a:r>
              <a:t>💰 투자 수익 분석 (ROI)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657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1년차 총 투자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4151"/>
                </a:solidFill>
                <a:latin typeface="맑은 고딕"/>
              </a:defRPr>
            </a:pPr>
            <a:r>
              <a:t>15.7M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657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연간 절감 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30M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657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순 이익 (ROI)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맑은 고딕"/>
              </a:defRPr>
            </a:pPr>
            <a:r>
              <a:t>91%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84632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74D"/>
                </a:solidFill>
                <a:latin typeface="맑은 고딕"/>
              </a:defRPr>
            </a:pPr>
            <a:r>
              <a:t>📊 정동병원 예상 도입 효과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업무 효율 75% 향상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577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하루 3시간 → 45분</a:t>
            </a:r>
            <a:br/>
            <a:r>
              <a:t>연간 약 900시간 절약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303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재고 비용 30% 절감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577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연간 약 3,000만원 절감</a:t>
            </a:r>
            <a:br/>
            <a:r>
              <a:t>약 1년 만에 투자 회수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303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세금계산서 80% 개선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577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월말 2일 → 2시간 완료</a:t>
            </a:r>
            <a:br/>
            <a:r>
              <a:t>정산 업무 부담 감소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440"/>
                </a:solidFill>
                <a:latin typeface="맑은 고딕"/>
              </a:defRPr>
            </a:pPr>
            <a:r>
              <a:t>📈 도입 후 달라지는 4가지 핵심 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2286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4572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0B981"/>
                </a:solidFill>
                <a:latin typeface="맑은 고딕"/>
              </a:defRPr>
            </a:pPr>
            <a: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00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맑은 고딕"/>
              </a:defRPr>
            </a:pPr>
            <a:r>
              <a:t>실시간 재고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입고/출고 데이터 자동 동기화</a:t>
            </a:r>
            <a:br/>
            <a:r>
              <a:t>재고 파악 시간 90% 단축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120640" cy="2286000"/>
          </a:xfrm>
          <a:prstGeom prst="rect">
            <a:avLst/>
          </a:prstGeom>
          <a:solidFill>
            <a:srgbClr val="DC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4572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B82F6"/>
                </a:solidFill>
                <a:latin typeface="맑은 고딕"/>
              </a:defRPr>
            </a:pPr>
            <a:r>
              <a:t>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00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맑은 고딕"/>
              </a:defRPr>
            </a:pPr>
            <a:r>
              <a:t>세금계산서 자동화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자동 발행 및 국세청 연동</a:t>
            </a:r>
            <a:br/>
            <a:r>
              <a:t>원스톱 신고 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120640" cy="2286000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45720" cy="228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97316"/>
                </a:solidFill>
                <a:latin typeface="맑은 고딕"/>
              </a:defRPr>
            </a:pPr>
            <a:r>
              <a:t>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5195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맑은 고딕"/>
              </a:defRPr>
            </a:pPr>
            <a:r>
              <a:t>스마트 알림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AI 기반 재고 부족 예측</a:t>
            </a:r>
            <a:br/>
            <a:r>
              <a:t>실시간 발주 알림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931920"/>
            <a:ext cx="5120640" cy="22860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931920"/>
            <a:ext cx="45720" cy="2286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A855F7"/>
                </a:solidFill>
                <a:latin typeface="맑은 고딕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25195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맑은 고딕"/>
              </a:defRPr>
            </a:pPr>
            <a:r>
              <a:t>데이터 기반 의사결정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9377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소비 패턴 분석</a:t>
            </a:r>
            <a:br/>
            <a:r>
              <a:t>최적 발주량 및 예산 계획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440"/>
                </a:solidFill>
                <a:latin typeface="맑은 고딕"/>
              </a:defRPr>
            </a:pPr>
            <a:r>
              <a:t>🔧 플랫폼 핵심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120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1️⃣ 통합 재고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바코드/QR 스캔 입출고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599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유통기한 자동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5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부서별 분산 재고 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모바일 앱 실시간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512064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1206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2️⃣ 세금계산서 자동화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202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입고 데이터 기반 자동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8599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홈택스 전자세금계산서 발행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5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월별/분기별 정산 리포트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17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회계 프로그램 연동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512064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512064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2335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3️⃣ 공급업체 협업 포털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20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발주서 자동 전송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37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배송 상태 실시간 추적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가격 비교 및 협상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692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공급업체 평가 시스템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31920"/>
            <a:ext cx="512064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931920"/>
            <a:ext cx="512064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02335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4️⃣ AI 분석 &amp; 예측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5720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최적 발주량 AI 추천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37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소비 트렌드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303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재고 회전율 모니터링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6692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✓ 이상 거래 자동 탐지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440"/>
                </a:solidFill>
                <a:latin typeface="맑은 고딕"/>
              </a:defRPr>
            </a:pPr>
            <a:r>
              <a:t>⏱️ 정동병원 맞춤 도입 일정 (4주 완성)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맑은 고딕"/>
              </a:defRPr>
            </a:pPr>
            <a:r>
              <a:t>예상 오픈일: 2026년 4월 30일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560320" cy="4114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560320" cy="457200"/>
          </a:xfrm>
          <a:prstGeom prst="rect">
            <a:avLst/>
          </a:prstGeom>
          <a:solidFill>
            <a:srgbClr val="065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WEEK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4월 1주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274D"/>
                </a:solidFill>
                <a:latin typeface="맑은 고딕"/>
              </a:defRPr>
            </a:pPr>
            <a:r>
              <a:t>현황 분석 &amp;</a:t>
            </a:r>
            <a:br/>
            <a:r>
              <a:t>요구사항 정의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474720"/>
            <a:ext cx="2011679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프로세스 분석</a:t>
            </a:r>
            <a:br/>
            <a:r>
              <a:t>품목 분류 체계</a:t>
            </a:r>
            <a:br/>
            <a:r>
              <a:t>사용자 권한 설계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828800"/>
            <a:ext cx="2560320" cy="4114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828800"/>
            <a:ext cx="25603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WEEK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4월 2주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274D"/>
                </a:solidFill>
                <a:latin typeface="맑은 고딕"/>
              </a:defRPr>
            </a:pPr>
            <a:r>
              <a:t>시스템 구축 &amp;</a:t>
            </a:r>
            <a:br/>
            <a:r>
              <a:t>데이터 이관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474720"/>
            <a:ext cx="2011679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재고 데이터 입력</a:t>
            </a:r>
            <a:br/>
            <a:r>
              <a:t>공급업체 등록</a:t>
            </a:r>
            <a:br/>
            <a:r>
              <a:t>바코드 부착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828800"/>
            <a:ext cx="2560320" cy="4114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828800"/>
            <a:ext cx="25603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WEEK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4월 3주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274D"/>
                </a:solidFill>
                <a:latin typeface="맑은 고딕"/>
              </a:defRPr>
            </a:pPr>
            <a:r>
              <a:t>사용자 교육 &amp;</a:t>
            </a:r>
            <a:br/>
            <a:r>
              <a:t>테스트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474720"/>
            <a:ext cx="2011679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담당자별 교육</a:t>
            </a:r>
            <a:br/>
            <a:r>
              <a:t>시범 운영</a:t>
            </a:r>
            <a:br/>
            <a:r>
              <a:t>피드백 반영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1828800"/>
            <a:ext cx="2560320" cy="4114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3960" y="1828800"/>
            <a:ext cx="2560320" cy="457200"/>
          </a:xfrm>
          <a:prstGeom prst="rect">
            <a:avLst/>
          </a:prstGeom>
          <a:solidFill>
            <a:srgbClr val="065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WEEK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4월 4주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274D"/>
                </a:solidFill>
                <a:latin typeface="맑은 고딕"/>
              </a:defRPr>
            </a:pPr>
            <a:r>
              <a:t>정식 오픈 &amp;</a:t>
            </a:r>
            <a:br/>
            <a:r>
              <a:t>안정화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3474720"/>
            <a:ext cx="2011679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시스템 가동</a:t>
            </a:r>
            <a:br/>
            <a:r>
              <a:t>실시간 모니터링</a:t>
            </a:r>
            <a:br/>
            <a:r>
              <a:t>최적화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440"/>
                </a:solidFill>
                <a:latin typeface="맑은 고딕"/>
              </a:defRPr>
            </a:pPr>
            <a:r>
              <a:t>💰 도입 비용 안내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383280" cy="5029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4151"/>
                </a:solidFill>
                <a:latin typeface="맑은 고딕"/>
              </a:defRPr>
            </a:pPr>
            <a:r>
              <a:t>스타터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맑은 고딕"/>
              </a:defRPr>
            </a:pPr>
            <a:r>
              <a:t>소규모 의원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057400"/>
            <a:ext cx="24688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  <a:latin typeface="맑은 고딕"/>
              </a:defRPr>
            </a:pPr>
            <a:r>
              <a:t>4,500,000원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맑은 고딕"/>
              </a:defRPr>
            </a:pPr>
            <a:r>
              <a:t>월 300,000원/월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맑은 고딕"/>
              </a:defRPr>
            </a:pPr>
            <a:r>
              <a:t>✓ 기본 재고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맑은 고딕"/>
              </a:defRPr>
            </a:pPr>
            <a:r>
              <a:t>✓ 세금계산서 자동 발행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맑은 고딕"/>
              </a:defRPr>
            </a:pPr>
            <a:r>
              <a:t>✓ 모바일 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7763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맑은 고딕"/>
              </a:defRPr>
            </a:pPr>
            <a:r>
              <a:t>✓ 최대 500개 품목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7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맑은 고딕"/>
              </a:defRPr>
            </a:pPr>
            <a:r>
              <a:t>✓ 최대 5명 사용자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188720"/>
            <a:ext cx="3383280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371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프로페셔널 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737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중소 규모 병원 추천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2057400"/>
            <a:ext cx="246888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8,500,000원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651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월 600,000원/월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017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✓ 스타터 전체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✓ 공급업체 협업 포털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6576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✓ AI 발주량 예측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97763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✓ ERP/회계 연동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29767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✓ 무제한 품목/20명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1188720"/>
            <a:ext cx="3383280" cy="5029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371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4151"/>
                </a:solidFill>
                <a:latin typeface="맑은 고딕"/>
              </a:defRPr>
            </a:pPr>
            <a:r>
              <a:t>엔터프라이즈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737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맑은 고딕"/>
              </a:defRPr>
            </a:pPr>
            <a:r>
              <a:t>대형 종합병원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057400"/>
            <a:ext cx="24688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194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  <a:latin typeface="맑은 고딕"/>
              </a:defRPr>
            </a:pPr>
            <a:r>
              <a:t>별도 협의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651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맑은 고딕"/>
              </a:defRPr>
            </a:pPr>
            <a:r>
              <a:t>월 별도 협의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017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맑은 고딕"/>
              </a:defRPr>
            </a:pPr>
            <a:r>
              <a:t>✓ 프로 전체 기능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맑은 고딕"/>
              </a:defRPr>
            </a:pPr>
            <a:r>
              <a:t>✓ 다지점 통합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6576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맑은 고딕"/>
              </a:defRPr>
            </a:pPr>
            <a:r>
              <a:t>✓ 맞춤형 워크플로우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97763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맑은 고딕"/>
              </a:defRPr>
            </a:pPr>
            <a:r>
              <a:t>✓ HIS 완전 통합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29767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맑은 고딕"/>
              </a:defRPr>
            </a:pPr>
            <a:r>
              <a:t>✓ 전담 매니저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440"/>
                </a:solidFill>
                <a:latin typeface="맑은 고딕"/>
              </a:defRPr>
            </a:pPr>
            <a:r>
              <a:t>✨ 정동병원 기대 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📊 정량적 효과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📈 업무 효율 75% 향상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하루 3시간 → 45분</a:t>
            </a:r>
            <a:br/>
            <a:r>
              <a:t>연간 약 900시간 절약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맑은 고딕"/>
              </a:defRPr>
            </a:pPr>
            <a:r>
              <a:t>💰 재고 비용 30% 절감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연간 약 3,000만원 절감</a:t>
            </a:r>
            <a:br/>
            <a:r>
              <a:t>약 1년 만에 투자 회수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맑은 고딕"/>
              </a:defRPr>
            </a:pPr>
            <a:r>
              <a:t>⚡ 세금계산서 80% 개선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9834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월말 2일 → 2시간 완료</a:t>
            </a:r>
            <a:br/>
            <a:r>
              <a:t>정산 업무 부담 감소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188720"/>
            <a:ext cx="4846320" cy="5029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맑은 고딕"/>
              </a:defRPr>
            </a:pPr>
            <a:r>
              <a:t>💡 정성적 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03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맑은 고딕"/>
              </a:defRPr>
            </a:pPr>
            <a:r>
              <a:t>🛡️ 재고 부족 사고 예방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23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필수 의료 물품 결품 방지</a:t>
            </a:r>
            <a:br/>
            <a:r>
              <a:t>환자 진료 차질 최소화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3832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맑은 고딕"/>
              </a:defRPr>
            </a:pPr>
            <a:r>
              <a:t>✅ 투명한 재무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03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거래 내역 완전 추적</a:t>
            </a:r>
            <a:br/>
            <a:r>
              <a:t>부정 사용 및 횡령 방지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66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맑은 고딕"/>
              </a:defRPr>
            </a:pPr>
            <a:r>
              <a:t>🤝 공급업체 협업 강화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9834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실시간 정보 공유</a:t>
            </a:r>
            <a:br/>
            <a:r>
              <a:t>장기 파트너십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0B981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346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맑은 고딕"/>
              </a:defRPr>
            </a:pPr>
            <a:r>
              <a:t>정동병원의 디지털 전환을 위해 kitt AI가 함께하겠습니다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21031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274D"/>
                </a:solidFill>
                <a:latin typeface="맑은 고딕"/>
              </a:defRPr>
            </a:pPr>
            <a:r>
              <a:t>kitt AI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891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Email: inventory@kitt.ai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09159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Tel: 02-1234-5678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0292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Support: support@kitt.ai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7607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맑은 고딕"/>
              </a:defRPr>
            </a:pPr>
            <a:r>
              <a:t>2026년 3월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